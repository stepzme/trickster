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16c71ed71e4df9" /><Relationship Type="http://schemas.openxmlformats.org/officeDocument/2006/relationships/extended-properties" Target="/docProps/app.xml" Id="Rc4c9844b9af94b65" /><Relationship Type="http://schemas.openxmlformats.org/officeDocument/2006/relationships/officeDocument" Target="/ppt/presentation.xml" Id="R29ac21bea3334f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f87e7c81e245ba"/>
  </p:sldMasterIdLst>
  <p:notesMasterIdLst>
    <p:notesMasterId xmlns:r="http://schemas.openxmlformats.org/officeDocument/2006/relationships" r:id="Rd1ca4c3a56304330"/>
  </p:notesMasterIdLst>
  <p:sldIdLst>
    <p:sldId xmlns:r="http://schemas.openxmlformats.org/officeDocument/2006/relationships" id="256" r:id="R97f0dc01f2b34e92"/>
    <p:sldId xmlns:r="http://schemas.openxmlformats.org/officeDocument/2006/relationships" id="257" r:id="R0f79542c84f649f0"/>
    <p:sldId xmlns:r="http://schemas.openxmlformats.org/officeDocument/2006/relationships" id="258" r:id="Ra9013d753a62414f"/>
    <p:sldId xmlns:r="http://schemas.openxmlformats.org/officeDocument/2006/relationships" id="259" r:id="Re3c7d303239d42ef"/>
    <p:sldId xmlns:r="http://schemas.openxmlformats.org/officeDocument/2006/relationships" id="260" r:id="R1ccf71681e16485b"/>
    <p:sldId xmlns:r="http://schemas.openxmlformats.org/officeDocument/2006/relationships" id="261" r:id="R6271c3d0af6841ad"/>
    <p:sldId xmlns:r="http://schemas.openxmlformats.org/officeDocument/2006/relationships" id="262" r:id="Rb19abfb88a4147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69a104f07840d7" /><Relationship Type="http://schemas.openxmlformats.org/officeDocument/2006/relationships/slideMaster" Target="/ppt/slideMasters/slideMaster1.xml" Id="R02f87e7c81e245ba" /><Relationship Type="http://schemas.openxmlformats.org/officeDocument/2006/relationships/notesMaster" Target="/ppt/notesMasters/notesMaster1.xml" Id="Rd1ca4c3a56304330" /><Relationship Type="http://schemas.openxmlformats.org/officeDocument/2006/relationships/presProps" Target="/ppt/presProps.xml" Id="R66c9b8d931134e49" /><Relationship Type="http://schemas.openxmlformats.org/officeDocument/2006/relationships/tableStyles" Target="/ppt/tableStyles.xml" Id="R55e45c6bc3524040" /><Relationship Type="http://schemas.openxmlformats.org/officeDocument/2006/relationships/slide" Target="/ppt/slides/slide1.xml" Id="R97f0dc01f2b34e92" /><Relationship Type="http://schemas.openxmlformats.org/officeDocument/2006/relationships/slide" Target="/ppt/slides/slide2.xml" Id="R0f79542c84f649f0" /><Relationship Type="http://schemas.openxmlformats.org/officeDocument/2006/relationships/slide" Target="/ppt/slides/slide3.xml" Id="Ra9013d753a62414f" /><Relationship Type="http://schemas.openxmlformats.org/officeDocument/2006/relationships/slide" Target="/ppt/slides/slide4.xml" Id="Re3c7d303239d42ef" /><Relationship Type="http://schemas.openxmlformats.org/officeDocument/2006/relationships/slide" Target="/ppt/slides/slide5.xml" Id="R1ccf71681e16485b" /><Relationship Type="http://schemas.openxmlformats.org/officeDocument/2006/relationships/slide" Target="/ppt/slides/slide6.xml" Id="R6271c3d0af6841ad" /><Relationship Type="http://schemas.openxmlformats.org/officeDocument/2006/relationships/slide" Target="/ppt/slides/slide7.xml" Id="Rb19abfb88a4147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981e26e6de44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1139cdddde4f52" /><Relationship Type="http://schemas.openxmlformats.org/officeDocument/2006/relationships/notesMaster" Target="/ppt/notesMasters/notesMaster1.xml" Id="R201f49dae20c4a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8f9f21041141ee" /><Relationship Type="http://schemas.openxmlformats.org/officeDocument/2006/relationships/notesMaster" Target="/ppt/notesMasters/notesMaster1.xml" Id="R8eaf848b75a04c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6fa366da464d00" /><Relationship Type="http://schemas.openxmlformats.org/officeDocument/2006/relationships/notesMaster" Target="/ppt/notesMasters/notesMaster1.xml" Id="R52b3249030e742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b1bac76c924bd4" /><Relationship Type="http://schemas.openxmlformats.org/officeDocument/2006/relationships/notesMaster" Target="/ppt/notesMasters/notesMaster1.xml" Id="R1c9d5739a4b64e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3c05bb87e94068" /><Relationship Type="http://schemas.openxmlformats.org/officeDocument/2006/relationships/notesMaster" Target="/ppt/notesMasters/notesMaster1.xml" Id="R651d244a6bdb4e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4d086a630a4661" /><Relationship Type="http://schemas.openxmlformats.org/officeDocument/2006/relationships/notesMaster" Target="/ppt/notesMasters/notesMaster1.xml" Id="R8f5fdae6ef3749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bef4aa1ded42a9" /><Relationship Type="http://schemas.openxmlformats.org/officeDocument/2006/relationships/notesMaster" Target="/ppt/notesMasters/notesMaster1.xml" Id="R77098996e86e4e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workflow/master-prompt.md. Deck предназначен для руководителей, которые отвечают за процесс разработки и итоговое качество продукта.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workflow/master-prompt.md, workflow/orchestration.md. Слайд разделяет выполнение и управление, не приписывая Trickster самостоятельную реализацию продукта.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installer/init.mjs, test/init.test.mjs. Глобальная установка npm-пакета запрещена; запуск выполняется через npx из корня целевого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workflow/master-prompt.md, workflow/style-reference.md, workflow/product-contract.md, workflow/implementation.md, workflow/acceptance.md, workflow/aso-screenshots.md.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workflow/orchestration.md, roles/*.md, workflow/acceptance.md. В среде без отдельных исполнителей мастер выполняет контракты последовательно и записывает ограничение.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workflow/acceptance.md, workflow/delivery.md. Статус ACCEPTED требует PASS по всем обязательным и применимым критериям AC-01 through AC-11.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package.json, styles/catalog.json, test/init.test.mjs. Свежая локальная проверка 28.09.2026: npm test прошёл 13/13. Пилот и предложенные метрики являются рекомендацией, а не историческим результатом.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bcf6652094b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4841c7933e4f2f" /><Relationship Type="http://schemas.openxmlformats.org/officeDocument/2006/relationships/slideLayout" Target="/ppt/slideLayouts/slideLayout1.xml" Id="R0ea2017248074d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a2017248074d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1e7088182499e" /><Relationship Type="http://schemas.openxmlformats.org/officeDocument/2006/relationships/notesSlide" Target="/ppt/notesSlides/notesSlide1.xml" Id="Read7caa1ee6a4e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32aaaaa2046e3" /><Relationship Type="http://schemas.openxmlformats.org/officeDocument/2006/relationships/notesSlide" Target="/ppt/notesSlides/notesSlide2.xml" Id="R7145ed56b1d041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b08b984df45e7" /><Relationship Type="http://schemas.openxmlformats.org/officeDocument/2006/relationships/notesSlide" Target="/ppt/notesSlides/notesSlide3.xml" Id="Rb9d25026c65943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2b149a64a4fce" /><Relationship Type="http://schemas.openxmlformats.org/officeDocument/2006/relationships/notesSlide" Target="/ppt/notesSlides/notesSlide4.xml" Id="Rd2edbb0fce9842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93b467090458a" /><Relationship Type="http://schemas.openxmlformats.org/officeDocument/2006/relationships/notesSlide" Target="/ppt/notesSlides/notesSlide5.xml" Id="Rafb47175887240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04514a9b44232" /><Relationship Type="http://schemas.openxmlformats.org/officeDocument/2006/relationships/notesSlide" Target="/ppt/notesSlides/notesSlide6.xml" Id="R1840f2d7d4974b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eca0169624a3f" /><Relationship Type="http://schemas.openxmlformats.org/officeDocument/2006/relationships/notesSlide" Target="/ppt/notesSlides/notesSlide7.xml" Id="R28d6edf37cee41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40D2E-FCED-4DBD-80C4-D7E3E3A8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5B745-00E3-4D89-880D-246F582E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TRICKSTER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A545E-3DD1-4D17-AD08-904344D3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005C2-E106-499E-8692-447DB159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858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Контур управления</a:t>
            </a:r>
          </a:p>
          <a:p xmlns:a="http://schemas.openxmlformats.org/drawingml/2006/main">
            <a:pPr algn="l">
              <a:defRPr sz="4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агентной разработкой 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E5D5D-374D-4AA8-B717-11A1FCB5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Продуктовый обзор для руководителей разработки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8CA24-4E0B-4A4A-BA01-F5C6595E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Процесс, роли и критерии приёмки устанавливаются внутрь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787410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86116-9E66-413F-A092-77996619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D3397-B306-4DA0-A686-AECA5E53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TRICKSTER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ACE5B-8494-4C09-81BA-46292015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6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A28CF-DDDB-4B9D-A12C-D1A51DBC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D5878-93A0-4104-8849-8D297BC3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Роль Trickster в процессе разработки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EC3D1-8488-41AF-B6C1-4E6BA1E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Агент выполняет работу. Trickster задаёт порядок, границы и способ проверки результата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0240A-8AD4-46E1-870C-DC83B8F4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5DFCD-DF70-481A-8A11-98CDC5A3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РАБОТА АГЕНТА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B3D25-119A-46A2-9043-4CC5FECA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5148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Исследование</a:t>
            </a:r>
          </a:p>
          <a:p xmlns:a="http://schemas.openxmlformats.org/drawingml/2006/main">
            <a:pPr algn="l"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Проектирование</a:t>
            </a:r>
          </a:p>
          <a:p xmlns:a="http://schemas.openxmlformats.org/drawingml/2006/main">
            <a:pPr algn="l"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Код</a:t>
            </a:r>
          </a:p>
          <a:p xmlns:a="http://schemas.openxmlformats.org/drawingml/2006/main">
            <a:pPr algn="l"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Продуктовые ассеты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13E38-7564-4FB0-B7F1-57CF9F0A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КОНТРОЛЬ ПРОЦЕССА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5FFFD-3BBE-4C6B-89BC-E7F72C4F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4857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Зафиксированные границы</a:t>
            </a:r>
          </a:p>
          <a:p xmlns:a="http://schemas.openxmlformats.org/drawingml/2006/main">
            <a:pPr algn="l"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Единый визуальный контекст</a:t>
            </a:r>
          </a:p>
          <a:p xmlns:a="http://schemas.openxmlformats.org/drawingml/2006/main">
            <a:pPr algn="l"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Обязательная передача результата</a:t>
            </a:r>
          </a:p>
          <a:p xmlns:a="http://schemas.openxmlformats.org/drawingml/2006/main">
            <a:pPr algn="l">
              <a:defRPr sz="23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Независимая приёмка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F056D-BD32-4ED3-B5AF-CBE452B4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8519C-726E-4784-89DC-F981F52D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Руководитель получает воспроизводимый результат и понятную точку принятия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2090123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B3F03-2CA1-4C51-B130-667E277C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24DE7-7B75-4FA6-9D2E-AA49148B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TRICKSTER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98302-32D3-4773-96B0-D94456AD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6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AFA02-EAD2-4497-948E-58817E22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80004-67D0-4BB4-8C19-44660649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Продукт внутри репозитория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BF4EB-281B-48CC-A58C-FC68B578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Trickster устанавливает процесс локально. Контекст решения и доказательства остаются рядом с кодом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32B4B-33B2-40D2-A70A-9889C881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858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11B73-4A33-4BAD-BF61-8BA474B9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РЕПОЗИТОРИЙ ПРОЕКТА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79931-D75A-4409-9D71-2D23F238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Правила процесса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C4C32-5924-4F6C-B9F7-74A9B1AB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05200"/>
            <a:ext cx="3638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5D6662"/>
                </a:solidFill>
                <a:latin typeface="Courier New"/>
                <a:ea typeface="Courier New"/>
                <a:cs typeface="Courier New"/>
              </a:rPr>
              <a:t>AGENTS.md   workflow/   roles/   adapters/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88912-2732-4BEF-AB0A-C7FD620C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613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2B744-87A5-4819-B5B5-7B416BE5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85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Зафиксированный контекст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75C81-69DB-4300-A74C-571EA93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3638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5D6662"/>
                </a:solidFill>
                <a:latin typeface="Courier New"/>
                <a:ea typeface="Courier New"/>
                <a:cs typeface="Courier New"/>
              </a:rPr>
              <a:t>design/   product.md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0EFCB-556B-4C32-890E-313F7936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13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05404-ECCD-426C-9118-818ABD1F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Доказательства запуска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953BC-DFC9-4B34-9FF0-CA980C9B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91100"/>
            <a:ext cx="3638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2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5D6662"/>
                </a:solidFill>
                <a:latin typeface="Courier New"/>
                <a:ea typeface="Courier New"/>
                <a:cs typeface="Courier New"/>
              </a:rPr>
              <a:t>artifacts/   screenshots 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C2CB0-7FCD-432F-B00B-6DCEB141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ПОВТОРНЫЙ ЗАПУСК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55B32-00F2-4299-AD7D-211A5672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Обновляет управляемые документы процесса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5F4F7-05ED-42E2-8461-3627FED4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Сохраняет выбранный дизайн и артефакты завершённых запусков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DDC60-22EB-48E9-9B40-EA883504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6C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087F6C"/>
                </a:solidFill>
                <a:latin typeface="Courier New"/>
                <a:ea typeface="Courier New"/>
                <a:cs typeface="Courier New"/>
              </a:rPr>
              <a:t>npx @sgx22/trickster init</a:t>
            </a:r>
          </a:p>
        </p:txBody>
      </p:sp>
    </p:spTree>
    <p:extLst>
      <p:ext uri="{BB962C8B-B14F-4D97-AF65-F5344CB8AC3E}">
        <p14:creationId xmlns:p14="http://schemas.microsoft.com/office/powerpoint/2010/main" val="1230522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DD8BD5-B0D5-41AC-85B7-992C651F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80CDE-C446-4D7D-9A21-C2AEC066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TRICKSTER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3D167-1207-4CCA-A863-D4949334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6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A3DE2-6F7B-492E-B5B7-A6DA7DCB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62C59-597E-443E-A810-E62A135A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Контрольные точки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7FDD8-979F-4AAF-A2C3-727CF4AF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Каждый этап завершается конкретным результатом. Следующий этап начинается после его проверки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A20A6-C0AA-4FE7-BFA7-60D2CF7B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87F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B733B-EAE3-4610-A1BE-254A58F3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8AFFD-BA0E-4EC4-B20D-637B8057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Границы продукта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30135-1489-42B0-A0B7-958C4B3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38100">
            <a:solidFill>
              <a:srgbClr val="087F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7858D-22E7-478E-A346-38706CA7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Границы и</a:t>
            </a:r>
          </a:p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критерии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953F6-0D6E-41EA-821A-28067006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E5A1E-E133-4644-83B3-E706FA25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051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Дизайн и контракт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CF6DA-2076-4A0B-BA9E-03D7EA05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38100">
            <a:solidFill>
              <a:srgbClr val="087F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DB889-6A10-46E4-81F6-550545E6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0050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Один пакет,</a:t>
            </a:r>
          </a:p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экраны и состояния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0A07D-9481-41AF-B2EA-98B0D543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93545-3412-4CBA-A626-76B10854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Реализация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E784C-8D72-4CDA-9A71-4429D7AB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38100">
            <a:solidFill>
              <a:srgbClr val="087F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3C997-7084-41DF-B07D-C3C75FF7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Вертикальный сценарий</a:t>
            </a:r>
          </a:p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и полный объём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F991C-0B98-472A-9A41-49B226BE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E0858-255F-48AD-B25F-9167AF47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Приёмка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1F873-B09B-4FF9-BA66-D51F402C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67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A"/>
          </a:solidFill>
          <a:ln xmlns:a="http://schemas.openxmlformats.org/drawingml/2006/main" w="38100">
            <a:solidFill>
              <a:srgbClr val="087F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41FCE4-77E1-4CEB-803B-57BD6575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2400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Simulator, сценарии</a:t>
            </a:r>
          </a:p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и решение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29ACB-BCE1-41B5-8E29-F625DFA6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6851C-5D8B-4159-AF7C-EE8EB4BC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Скриншоты для стора создаются после статуса ACCEPTED из экранов принятой сборки</a:t>
            </a:r>
          </a:p>
        </p:txBody>
      </p:sp>
    </p:spTree>
    <p:extLst>
      <p:ext uri="{BB962C8B-B14F-4D97-AF65-F5344CB8AC3E}">
        <p14:creationId xmlns:p14="http://schemas.microsoft.com/office/powerpoint/2010/main" val="1324866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8C3D1-218C-4802-BA7B-CB4B0763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70FBC-813D-43EA-BDA6-FFE9B132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TRICKSTER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04D8F-BCE8-4C06-8F6B-66C95146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6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91E7E-9D27-4297-A983-860F158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C5752-17B1-46A6-8C38-2B75B069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Разделение ответственности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63D65-7F1F-4D47-9C36-5D9861AD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Мастер управляет последовательностью и проверяет передачу результата. Исполнитель реализации не принимает собственную работу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585CE-FB1C-4DCE-8D7D-DC99D929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МАСТЕР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B161C-8FFE-4750-A09A-59A3E91C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Фиксирует входы</a:t>
            </a:r>
          </a:p>
          <a:p xmlns:a="http://schemas.openxmlformats.org/drawingml/2006/main">
            <a:pPr algn="l"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Удерживает границы продукта</a:t>
            </a:r>
          </a:p>
          <a:p xmlns:a="http://schemas.openxmlformats.org/drawingml/2006/main">
            <a:pPr algn="l"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Принимает финальное решение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81485-4F44-46B0-9A67-55C13006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95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8A89F-7D2C-4972-9A0C-170075F2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СОЗДАНИЕ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AF27C-A298-4EDF-80E3-B465D60B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285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98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Исследование продукта</a:t>
            </a:r>
          </a:p>
          <a:p xmlns:a="http://schemas.openxmlformats.org/drawingml/2006/main">
            <a:pPr algn="l">
              <a:defRPr sz="19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Планирование дизайна</a:t>
            </a:r>
          </a:p>
          <a:p xmlns:a="http://schemas.openxmlformats.org/drawingml/2006/main">
            <a:pPr algn="l">
              <a:defRPr sz="19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Реализация</a:t>
            </a:r>
          </a:p>
          <a:p xmlns:a="http://schemas.openxmlformats.org/drawingml/2006/main">
            <a:pPr algn="l">
              <a:defRPr sz="19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Продуктовые ассеты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925C6-1157-4DB1-B2FB-3B96CF83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95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F015C-192B-4B9F-84B5-FB4B20FA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ПРИЁМКА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C6356-35D3-4C75-83F1-5EA3AA91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7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Независимый ревьюер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0361F-C25D-4BA8-AFEB-965C2CAE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85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Воспроизводит сценарии</a:t>
            </a:r>
          </a:p>
          <a:p xmlns:a="http://schemas.openxmlformats.org/drawingml/2006/main">
            <a:pPr algn="l">
              <a:defRPr sz="1650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Собирает доказательства</a:t>
            </a:r>
          </a:p>
          <a:p xmlns:a="http://schemas.openxmlformats.org/drawingml/2006/main">
            <a:pPr algn="l">
              <a:defRPr sz="1650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Не исправляет код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C98BA-5FB3-462C-8869-189AC03C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1A396-B0EC-41F8-B816-FCEFE469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При отсутствии делегирования мастер сохраняет те же контракты и фиксирует ограничение</a:t>
            </a:r>
          </a:p>
        </p:txBody>
      </p:sp>
    </p:spTree>
    <p:extLst>
      <p:ext uri="{BB962C8B-B14F-4D97-AF65-F5344CB8AC3E}">
        <p14:creationId xmlns:p14="http://schemas.microsoft.com/office/powerpoint/2010/main" val="16354334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5E4F76-30DC-415E-96BD-3B51B5E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AE043-39F6-4669-8AAF-C30B2D81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TRICKSTER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DF1F7-97AE-43BB-82AE-016C0DC1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66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273E3-D110-4BB2-B83C-2EFA9D0C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8B13E-AB4D-4D86-AFC0-4A7573A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Приёмка финальной версии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699F4-EA3E-47E1-929C-2440FABD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Решение опирается на доказательства, связанные с одной сборкой и одной ревизией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3CF8E-52DD-47F3-9CD1-2DE2B2BC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ОБЯЗАТЕЛЬНЫЕ ДОКАЗАТЕЛЬСТВА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BB675-DCE6-405E-9617-65250D70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8234A-7D26-402D-ADDC-2AFFBF75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Финальный код собирается инструментами Xcode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28D98-815D-42C1-B050-8A6F11D9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E7487-F8D8-41A1-AAFA-CBDE88A1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67125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Эта сборка устанавливается и запускается в Simulator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93819-5CCC-4B5C-BAA2-8048315A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D5CC5-C4D2-4FC7-9C08-1125D5F2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Сценарии из контракта дают ожидаемый результат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7AA05-5D21-4FFC-A60B-42B87A7A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4AC7B-C179-4F72-BEBA-57666CDD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14875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Экраны и взаимодействия соответствуют выбранному стилю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78305-AA65-47E3-AEF9-B72EEF4A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CD58B-5F18-4A7A-BEAB-46F6E330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Источники и доказательства относятся к текущему запуску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C0DF2-5A03-4A8A-B818-CFFBBCD2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952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528E8-828B-49E9-8EFC-F4611374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СТАТУС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F0F83-CFD6-4ED7-A335-A9A1E28A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19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6C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087F6C"/>
                </a:solidFill>
                <a:latin typeface="Courier New"/>
                <a:ea typeface="Courier New"/>
                <a:cs typeface="Courier New"/>
              </a:rPr>
              <a:t>ACCEPTED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7B265-99D5-4927-B0A9-1422597B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Все обязательные критерии подтверждены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0C580-62C0-4B18-8D28-861C8EF5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11614"/>
                </a:solidFill>
                <a:latin typeface="Courier New"/>
                <a:ea typeface="Courier New"/>
                <a:cs typeface="Courier New"/>
              </a:rPr>
              <a:t>NEEDS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818B38-3B53-4E31-8976-15E14AF3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Есть воспроизведённый дефект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38232-2548-4549-801A-4A281551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0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614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111614"/>
                </a:solidFill>
                <a:latin typeface="Courier New"/>
                <a:ea typeface="Courier New"/>
                <a:cs typeface="Courier New"/>
              </a:rPr>
              <a:t>UNVERIFIED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8E482-0CEF-4D24-86F3-9A1EF223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102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Не хватает инструмента или доказательства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7644B9-7451-44D6-8F46-8522D7D5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866F5D-127B-4D8E-9F99-6EC39DC8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Успешная сборка подтверждает только часть критериев готовности</a:t>
            </a:r>
          </a:p>
        </p:txBody>
      </p:sp>
    </p:spTree>
    <p:extLst>
      <p:ext uri="{BB962C8B-B14F-4D97-AF65-F5344CB8AC3E}">
        <p14:creationId xmlns:p14="http://schemas.microsoft.com/office/powerpoint/2010/main" val="619281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9EFF5-B80B-49AD-9038-684EB3A6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0803A-2653-4C32-95CE-DD73E66B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TRICKSTER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8FD0D-CB7D-4D89-AF18-173551B3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D66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CB865-A6EF-455A-9141-CE8451F9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1BBDC-660F-4A18-B1CD-0076310D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Пилот на одном iOS-проекте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215A5-08A7-4AE4-A6E3-53BE3A23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Пилот должен показать стоимость контроля на реальном продукте, а не качество демонстрационного сценария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96BE2-8150-43AD-963B-8A396BBF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ДО СТАРТА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D7ECD-DE7E-448A-B474-6CFE35FE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610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2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Выбран проект</a:t>
            </a:r>
          </a:p>
          <a:p xmlns:a="http://schemas.openxmlformats.org/drawingml/2006/main">
            <a:pPr algn="l">
              <a:defRPr sz="21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Зафиксированы границы продукта</a:t>
            </a:r>
          </a:p>
          <a:p xmlns:a="http://schemas.openxmlformats.org/drawingml/2006/main">
            <a:pPr algn="l">
              <a:defRPr sz="2100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Назначен руководитель, который примет отчёт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72AFC-CC19-46BC-ACD0-37918085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DA219-C929-4202-92CF-6DF00FC9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В ИТОГОВОМ ОТЧЁТЕ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3F09A-F5DE-4AB7-B3B3-C0B30B5F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57550"/>
            <a:ext cx="4514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Время до принятой сборки</a:t>
            </a:r>
          </a:p>
          <a:p xmlns:a="http://schemas.openxmlformats.org/drawingml/2006/main">
            <a:pPr algn="l"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Число циклов исправлений</a:t>
            </a:r>
          </a:p>
          <a:p xmlns:a="http://schemas.openxmlformats.org/drawingml/2006/main">
            <a:pPr algn="l"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Изменения границ после контракта</a:t>
            </a:r>
          </a:p>
          <a:p xmlns:a="http://schemas.openxmlformats.org/drawingml/2006/main">
            <a:pPr algn="l">
              <a:defRPr sz="202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Количество UNVERIFIED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8C2AF-DFF0-4DD8-86F4-F05CD189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45E4F-7DCF-4F59-A76D-75F446CC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6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662"/>
                </a:solidFill>
                <a:latin typeface="Aptos"/>
                <a:ea typeface="Aptos"/>
                <a:cs typeface="Aptos"/>
              </a:rPr>
              <a:t>Текущая готовность комплекта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F95E7-1422-4269-B2D3-EA53B423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150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v1.0.1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800AE-28DE-4A0B-9861-E6883A94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715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13 из 13 тестов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6D282-D5B0-4C19-8E50-89A6BD93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150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614"/>
                </a:solidFill>
                <a:latin typeface="Aptos"/>
                <a:ea typeface="Aptos"/>
                <a:cs typeface="Aptos"/>
              </a:rPr>
              <a:t>275 пакетов стилей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60139-B88C-4319-9DAB-DD909104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F6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7F6C"/>
                </a:solidFill>
                <a:latin typeface="Aptos"/>
                <a:ea typeface="Aptos"/>
                <a:cs typeface="Aptos"/>
              </a:rPr>
              <a:t>Следующий шаг: выбрать проект и владельца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87100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2026-09-28T07:59:16.1260000Z</dcterms:created>
  <dcterms:modified xsi:type="dcterms:W3CDTF">2026-09-28T07:59:16.1260000Z</dcterms:modified>
</coreProperties>
</file>