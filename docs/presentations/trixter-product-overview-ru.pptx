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cb991940f442ad" /><Relationship Type="http://schemas.openxmlformats.org/officeDocument/2006/relationships/extended-properties" Target="/docProps/app.xml" Id="Rad13655634124a44" /><Relationship Type="http://schemas.openxmlformats.org/officeDocument/2006/relationships/officeDocument" Target="/ppt/presentation.xml" Id="R482fd854170140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08535eda9945f1"/>
  </p:sldMasterIdLst>
  <p:notesMasterIdLst>
    <p:notesMasterId xmlns:r="http://schemas.openxmlformats.org/officeDocument/2006/relationships" r:id="R1d91748b11754cca"/>
  </p:notesMasterIdLst>
  <p:sldIdLst>
    <p:sldId xmlns:r="http://schemas.openxmlformats.org/officeDocument/2006/relationships" id="256" r:id="R2250add7e3a44a37"/>
    <p:sldId xmlns:r="http://schemas.openxmlformats.org/officeDocument/2006/relationships" id="257" r:id="R2c0388a37e824f03"/>
    <p:sldId xmlns:r="http://schemas.openxmlformats.org/officeDocument/2006/relationships" id="258" r:id="R295a9d3b4e984b12"/>
    <p:sldId xmlns:r="http://schemas.openxmlformats.org/officeDocument/2006/relationships" id="259" r:id="R2a3f3e51dd124c09"/>
    <p:sldId xmlns:r="http://schemas.openxmlformats.org/officeDocument/2006/relationships" id="260" r:id="R7451c759ee144593"/>
    <p:sldId xmlns:r="http://schemas.openxmlformats.org/officeDocument/2006/relationships" id="261" r:id="Rb465f284a75648dc"/>
    <p:sldId xmlns:r="http://schemas.openxmlformats.org/officeDocument/2006/relationships" id="262" r:id="R4110aa569a5548f0"/>
    <p:sldId xmlns:r="http://schemas.openxmlformats.org/officeDocument/2006/relationships" id="263" r:id="R2ee7485a536d43a9"/>
    <p:sldId xmlns:r="http://schemas.openxmlformats.org/officeDocument/2006/relationships" id="264" r:id="R5b8cd93e5b394735"/>
    <p:sldId xmlns:r="http://schemas.openxmlformats.org/officeDocument/2006/relationships" id="265" r:id="R0a21d32a8c6944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74871f16084998" /><Relationship Type="http://schemas.openxmlformats.org/officeDocument/2006/relationships/slideMaster" Target="/ppt/slideMasters/slideMaster1.xml" Id="Rb908535eda9945f1" /><Relationship Type="http://schemas.openxmlformats.org/officeDocument/2006/relationships/notesMaster" Target="/ppt/notesMasters/notesMaster1.xml" Id="R1d91748b11754cca" /><Relationship Type="http://schemas.openxmlformats.org/officeDocument/2006/relationships/presProps" Target="/ppt/presProps.xml" Id="Rfbc5f85f4d8a4ee3" /><Relationship Type="http://schemas.openxmlformats.org/officeDocument/2006/relationships/tableStyles" Target="/ppt/tableStyles.xml" Id="R39e909fc4eca4089" /><Relationship Type="http://schemas.openxmlformats.org/officeDocument/2006/relationships/slide" Target="/ppt/slides/slide1.xml" Id="R2250add7e3a44a37" /><Relationship Type="http://schemas.openxmlformats.org/officeDocument/2006/relationships/slide" Target="/ppt/slides/slide2.xml" Id="R2c0388a37e824f03" /><Relationship Type="http://schemas.openxmlformats.org/officeDocument/2006/relationships/slide" Target="/ppt/slides/slide3.xml" Id="R295a9d3b4e984b12" /><Relationship Type="http://schemas.openxmlformats.org/officeDocument/2006/relationships/slide" Target="/ppt/slides/slide4.xml" Id="R2a3f3e51dd124c09" /><Relationship Type="http://schemas.openxmlformats.org/officeDocument/2006/relationships/slide" Target="/ppt/slides/slide5.xml" Id="R7451c759ee144593" /><Relationship Type="http://schemas.openxmlformats.org/officeDocument/2006/relationships/slide" Target="/ppt/slides/slide6.xml" Id="Rb465f284a75648dc" /><Relationship Type="http://schemas.openxmlformats.org/officeDocument/2006/relationships/slide" Target="/ppt/slides/slide7.xml" Id="R4110aa569a5548f0" /><Relationship Type="http://schemas.openxmlformats.org/officeDocument/2006/relationships/slide" Target="/ppt/slides/slide8.xml" Id="R2ee7485a536d43a9" /><Relationship Type="http://schemas.openxmlformats.org/officeDocument/2006/relationships/slide" Target="/ppt/slides/slide9.xml" Id="R5b8cd93e5b394735" /><Relationship Type="http://schemas.openxmlformats.org/officeDocument/2006/relationships/slide" Target="/ppt/slides/slide10.xml" Id="R0a21d32a8c6944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0dae75493648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e5dd0b79b24580" /><Relationship Type="http://schemas.openxmlformats.org/officeDocument/2006/relationships/notesMaster" Target="/ppt/notesMasters/notesMaster1.xml" Id="R6279df02761e40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7422d01da54e80" /><Relationship Type="http://schemas.openxmlformats.org/officeDocument/2006/relationships/notesMaster" Target="/ppt/notesMasters/notesMaster1.xml" Id="R7e62cef72c6e40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d391c235cc4201" /><Relationship Type="http://schemas.openxmlformats.org/officeDocument/2006/relationships/notesMaster" Target="/ppt/notesMasters/notesMaster1.xml" Id="Rd39c23d4d56147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fb3447056e4c74" /><Relationship Type="http://schemas.openxmlformats.org/officeDocument/2006/relationships/notesMaster" Target="/ppt/notesMasters/notesMaster1.xml" Id="R75f1b4a1671c4a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4270bba72845fd" /><Relationship Type="http://schemas.openxmlformats.org/officeDocument/2006/relationships/notesMaster" Target="/ppt/notesMasters/notesMaster1.xml" Id="R5e1bedb82b064e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1b8b01b6014af7" /><Relationship Type="http://schemas.openxmlformats.org/officeDocument/2006/relationships/notesMaster" Target="/ppt/notesMasters/notesMaster1.xml" Id="R7bfc717beef541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3b8168e20a4b6f" /><Relationship Type="http://schemas.openxmlformats.org/officeDocument/2006/relationships/notesMaster" Target="/ppt/notesMasters/notesMaster1.xml" Id="R96894ead141f49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db5dfeee2f4122" /><Relationship Type="http://schemas.openxmlformats.org/officeDocument/2006/relationships/notesMaster" Target="/ppt/notesMasters/notesMaster1.xml" Id="Rf04aef9147914e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9829f4387e4b65" /><Relationship Type="http://schemas.openxmlformats.org/officeDocument/2006/relationships/notesMaster" Target="/ppt/notesMasters/notesMaster1.xml" Id="Rdb1f16e1b94a4b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a84c87fe004d0f" /><Relationship Type="http://schemas.openxmlformats.org/officeDocument/2006/relationships/notesMaster" Target="/ppt/notesMasters/notesMaster1.xml" Id="Ra663188b3b9a47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README.ru.md, package.json. Презентация описывает текущий комплект Trixter в этом репозитории.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 продуктового решения: workflow/research.md, workflow/design.md, workflow/polish.md. Формулировки описывают риски, которые процесс Trixter специально ограничивает.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README.ru.md, installer/init.mjs, test/init.test.mjs. Установка является локальной для проекта, глобальная установка отклоняется.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workflow/master-prompt.md, workflow/planning.md, workflow/dev.md, workflow/polish.md, workflow/publish.md.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workflow/orchestration.md, roles/*.md, workflow/polish.md. При отсутствии делегирования мастер выполняет те же контракты последовательно и фиксирует ограничение.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README.ru.md, workflow/polish.md, workflow/publish.md. Store package не включает подписание, публикацию и физические устройства без отдельного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для колонки Trixter: workflow/master-prompt.md, workflow/orchestration.md, workflow/design.md, workflow/polish.md, workflow/publish.md. Колонка ad hoc описывает типовой неформализованный режим для сравнения, а не результат измерения конкретной команды.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package.json, styles/catalog.json, README.ru.md. Свежая локальная проверка 09.10.2026: npm test прошёл 13/13, npm pack --dry-run с временным кэшем показал 34 файлов. Эти проверки подтверждают комплект installer, но не заменяют пилот на реальном приложении.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рекомендация для внедрения, а не исторический результат Trixter. Метрики не содержат выдуманных target values. Базовые значения и целевой порог должен определить руководитель команды до запуска.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статусов: workflow/polish.md, workflow/publish.md. Рекомендуемое управленческое решение: пилот на одном реальном приложении с заранее зафиксированными критериями.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20483da25048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30763f0f93495a" /><Relationship Type="http://schemas.openxmlformats.org/officeDocument/2006/relationships/slideLayout" Target="/ppt/slideLayouts/slideLayout1.xml" Id="R92b872ea892d44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b872ea892d44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2d3aee6c2447a" /><Relationship Type="http://schemas.openxmlformats.org/officeDocument/2006/relationships/image" Target="/ppt/media/image.png" Id="R6f0311395dac42dd" /><Relationship Type="http://schemas.openxmlformats.org/officeDocument/2006/relationships/image" Target="/ppt/media/image.svg" Id="Rdf3cb23d74384494" /><Relationship Type="http://schemas.openxmlformats.org/officeDocument/2006/relationships/notesSlide" Target="/ppt/notesSlides/notesSlide1.xml" Id="Rfb2c044fc21548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20ba8fd204b38" /><Relationship Type="http://schemas.openxmlformats.org/officeDocument/2006/relationships/notesSlide" Target="/ppt/notesSlides/notesSlide2.xml" Id="Rd1d67192fcc744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69ffd441284759" /><Relationship Type="http://schemas.openxmlformats.org/officeDocument/2006/relationships/notesSlide" Target="/ppt/notesSlides/notesSlide3.xml" Id="R78e9014d9b9943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a8d2acc8d4da9" /><Relationship Type="http://schemas.openxmlformats.org/officeDocument/2006/relationships/notesSlide" Target="/ppt/notesSlides/notesSlide4.xml" Id="Re04db38e3e664e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87275c6e3a4a17" /><Relationship Type="http://schemas.openxmlformats.org/officeDocument/2006/relationships/notesSlide" Target="/ppt/notesSlides/notesSlide5.xml" Id="R1d32e52d1df54d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df0ec88204d4e" /><Relationship Type="http://schemas.openxmlformats.org/officeDocument/2006/relationships/notesSlide" Target="/ppt/notesSlides/notesSlide6.xml" Id="R86c81732db764a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842480ef94c36" /><Relationship Type="http://schemas.openxmlformats.org/officeDocument/2006/relationships/notesSlide" Target="/ppt/notesSlides/notesSlide7.xml" Id="R3ef366d8c7634f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82832351d4831" /><Relationship Type="http://schemas.openxmlformats.org/officeDocument/2006/relationships/notesSlide" Target="/ppt/notesSlides/notesSlide8.xml" Id="R74ed4b2624ca4a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da3d6ff2b42e4" /><Relationship Type="http://schemas.openxmlformats.org/officeDocument/2006/relationships/notesSlide" Target="/ppt/notesSlides/notesSlide9.xml" Id="Rbec6d87838a549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6d550bbfad4b7c" /><Relationship Type="http://schemas.openxmlformats.org/officeDocument/2006/relationships/notesSlide" Target="/ppt/notesSlides/notesSlide10.xml" Id="Ra7596136986546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0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0EAC6B-C6B4-47D7-9DF8-F7FE0D681E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0311395dac42dd">
            <a:extLst>
              <a:ext uri="{96DAC541-7B7A-43D3-8B79-37D633B846F1}">
                <asvg:svgBlip xmlns:asvg="http://schemas.microsoft.com/office/drawing/2016/SVG/main" r:embed="Rdf3cb23d74384494"/>
              </a:ext>
            </a:extLst>
          </a:blip>
          <a:stretch xmlns:a="http://schemas.openxmlformats.org/drawingml/2006/main"/>
        </p:blipFill>
        <p:spPr>
          <a:xfrm xmlns:a="http://schemas.openxmlformats.org/drawingml/2006/main" flipH="0" flipV="0">
            <a:off x="590550" y="514350"/>
            <a:ext cx="4333875" cy="1162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E70020-2F73-4D71-A87E-89D1617B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9525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FAF8F2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AF8F2"/>
                </a:solidFill>
                <a:latin typeface="Arial"/>
                <a:ea typeface="Arial"/>
                <a:cs typeface="Arial"/>
              </a:rPr>
              <a:t>Ваша команда</a:t>
            </a:r>
          </a:p>
          <a:p xmlns:a="http://schemas.openxmlformats.org/drawingml/2006/main">
            <a:pPr algn="l">
              <a:buNone/>
              <a:defRPr sz="4650" b="1">
                <a:solidFill>
                  <a:srgbClr val="FAF8F2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AF8F2"/>
                </a:solidFill>
                <a:latin typeface="Arial"/>
                <a:ea typeface="Arial"/>
                <a:cs typeface="Arial"/>
              </a:rPr>
              <a:t>для нативной разработки 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63390E-7BC9-4DD4-B4E0-91AC112B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B9B5A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B5AC"/>
                </a:solidFill>
                <a:latin typeface="Arial"/>
                <a:ea typeface="Arial"/>
                <a:cs typeface="Arial"/>
              </a:rPr>
              <a:t>Обзор для руководителей разработки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EC835E-5ADB-4D85-B388-5334E044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14975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2A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588AE7-533E-4944-90A6-4A7410D1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00725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49E8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9E87"/>
                </a:solidFill>
                <a:latin typeface="Arial"/>
                <a:ea typeface="Arial"/>
                <a:cs typeface="Arial"/>
              </a:rPr>
              <a:t>Research, Planning, Design, Dev, Polish и Publish внутри одного репозитория</a:t>
            </a:r>
          </a:p>
        </p:txBody>
      </p:sp>
    </p:spTree>
    <p:extLst>
      <p:ext uri="{BB962C8B-B14F-4D97-AF65-F5344CB8AC3E}">
        <p14:creationId xmlns:p14="http://schemas.microsoft.com/office/powerpoint/2010/main" val="3795065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DFBA36-0FEC-4D90-A5FB-DA109723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Четыре точки потери управляемости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AE0C47-0FE5-4BCE-AEDE-EE48445B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8A857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A857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0F1A9-E52D-438E-874D-B3742586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AI ускоряет отдельные задачи. Руководителю всё равно нужно удерживать границы продукта, качество решения и доказательства готовности.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28E385-E123-466D-A6FD-2FB313F7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14575"/>
            <a:ext cx="76200" cy="657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9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F9BC1E-381E-4493-84D8-8E222B6D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A857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A857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392C01-17A3-4A95-824B-2670D34A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3837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FF885C-CA05-4B5F-9FF6-CF15DE62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57425"/>
            <a:ext cx="708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Работа начинается до фиксации границ, новые функции возникают внутри реализации.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37FC75-86FB-4F3F-AD2B-382BD0C5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5B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B53C58-EF7D-422E-8C02-826DFE41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76200" cy="657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D8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2594FC-311B-4A3F-A44B-26888185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670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A857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A857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B23D76-C9F6-4E91-BB73-6E007209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385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Дизайн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04FCA5-5471-4FAF-997D-1F33E52B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57550"/>
            <a:ext cx="708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Референсы смешиваются, визуальное решение дрейфует от экрана к экрану.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6A93CB-B30B-4B7C-B51A-31251DEE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86225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5B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E938E9-2DF4-4F4C-97DC-E174BD54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14825"/>
            <a:ext cx="76200" cy="657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CCF472-F6C7-41F5-A0B2-A58EE346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672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A857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A857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507B9E-2845-4048-BF7C-35388AF2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3862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Приёмка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B82ABC-D525-41B4-BBDB-C1727F3D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57675"/>
            <a:ext cx="708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Исполнитель сообщает о готовности без независимого воспроизведения сценариев.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DF0CD0-0FB2-4058-9FC9-51A13407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863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5B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1A647D-553C-473C-B584-35FC41FA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76200" cy="657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249410-A005-4136-A246-A52AB045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673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A857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A857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D949D1-7433-4E11-B67C-77DE5912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2387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Доказательства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0EA1BC-2C89-4416-9848-6C22F618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257800"/>
            <a:ext cx="708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Зелёная сборка подменяет проверку поведения, состояний и визуального результата.</a:t>
            </a:r>
          </a:p>
        </p:txBody>
      </p:sp>
    </p:spTree>
    <p:extLst>
      <p:ext uri="{BB962C8B-B14F-4D97-AF65-F5344CB8AC3E}">
        <p14:creationId xmlns:p14="http://schemas.microsoft.com/office/powerpoint/2010/main" val="3228181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9A8E91-725A-4E11-864A-70CC4F15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Trixter внутри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AE3735-CDAC-4F70-9F61-76F3382C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8A857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A857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1272D8-4868-42E7-AE6D-0487E795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6286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Trixter устанавливает управляемый процесс в репозиторий и ведёт одну iOS-задачу от замысла до принятой сборки.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472A3A-B61A-45A8-BEE4-C19DA763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59531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Project-local подход сохраняет решения, дизайн-контекст и evidence рядом с кодом. Повторный запуск обновляет управляемые файлы и сохраняет выбранный стиль и артефакты.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CF5B1-358E-4144-81BC-AC54651E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314450"/>
            <a:ext cx="4095750" cy="4438650"/>
          </a:xfrm>
          <a:prstGeom xmlns:a="http://schemas.openxmlformats.org/drawingml/2006/main" prst="roundRect">
            <a:avLst>
              <a:gd name="adj" fmla="val 6512"/>
            </a:avLst>
          </a:prstGeom>
          <a:solidFill xmlns:a="http://schemas.openxmlformats.org/drawingml/2006/main">
            <a:srgbClr val="1110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077D20-D6DE-4550-8B7A-140FA80F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764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9E8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9E87"/>
                </a:solidFill>
                <a:latin typeface="Arial"/>
                <a:ea typeface="Arial"/>
                <a:cs typeface="Arial"/>
              </a:rPr>
              <a:t>trixter/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D89223-2F89-475E-AC68-1069506B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383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AF8F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AF8F2"/>
                </a:solidFill>
                <a:latin typeface="Arial"/>
                <a:ea typeface="Arial"/>
                <a:cs typeface="Arial"/>
              </a:rPr>
              <a:t>AGENTS.md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A3C59-4405-4D8F-AE3A-701D99F8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238375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8A39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A39A"/>
                </a:solidFill>
                <a:latin typeface="Arial"/>
                <a:ea typeface="Arial"/>
                <a:cs typeface="Arial"/>
              </a:rPr>
              <a:t>правила проекта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326E95-05A1-4C77-863E-693DE2BD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479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AF8F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AF8F2"/>
                </a:solidFill>
                <a:latin typeface="Arial"/>
                <a:ea typeface="Arial"/>
                <a:cs typeface="Arial"/>
              </a:rPr>
              <a:t>roles/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C82BD1-DE7F-4BB9-BAEE-1C27DBBC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847975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8A39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A39A"/>
                </a:solidFill>
                <a:latin typeface="Arial"/>
                <a:ea typeface="Arial"/>
                <a:cs typeface="Arial"/>
              </a:rPr>
              <a:t>контракты ролей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735E09-D8A6-4576-A0F2-1DA0541F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575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AF8F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AF8F2"/>
                </a:solidFill>
                <a:latin typeface="Arial"/>
                <a:ea typeface="Arial"/>
                <a:cs typeface="Arial"/>
              </a:rPr>
              <a:t>workflow/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897798-74A8-409E-BC45-829BFE89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457575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8A39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A39A"/>
                </a:solidFill>
                <a:latin typeface="Arial"/>
                <a:ea typeface="Arial"/>
                <a:cs typeface="Arial"/>
              </a:rPr>
              <a:t>этапы и ворота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364F93-6C5F-4BE7-93D6-1549AB60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671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AF8F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AF8F2"/>
                </a:solidFill>
                <a:latin typeface="Arial"/>
                <a:ea typeface="Arial"/>
                <a:cs typeface="Arial"/>
              </a:rPr>
              <a:t>design/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EAA36B-EB60-4AED-BD46-FCDCD2F2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067175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8A39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A39A"/>
                </a:solidFill>
                <a:latin typeface="Arial"/>
                <a:ea typeface="Arial"/>
                <a:cs typeface="Arial"/>
              </a:rPr>
              <a:t>один выбранный стиль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0EF008-DDFF-4D10-A866-5B03F0F9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767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AF8F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AF8F2"/>
                </a:solidFill>
                <a:latin typeface="Arial"/>
                <a:ea typeface="Arial"/>
                <a:cs typeface="Arial"/>
              </a:rPr>
              <a:t>artifacts/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D1F712-A4AE-42B9-8D33-904ED231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676775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8A39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A39A"/>
                </a:solidFill>
                <a:latin typeface="Arial"/>
                <a:ea typeface="Arial"/>
                <a:cs typeface="Arial"/>
              </a:rPr>
              <a:t>контракт и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43307B-EFC9-4E79-BF35-68A6B4E3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197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FD8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FD8C2"/>
                </a:solidFill>
                <a:latin typeface="Arial"/>
                <a:ea typeface="Arial"/>
                <a:cs typeface="Arial"/>
              </a:rPr>
              <a:t>npx @sgx22/trixter init</a:t>
            </a:r>
          </a:p>
        </p:txBody>
      </p:sp>
    </p:spTree>
    <p:extLst>
      <p:ext uri="{BB962C8B-B14F-4D97-AF65-F5344CB8AC3E}">
        <p14:creationId xmlns:p14="http://schemas.microsoft.com/office/powerpoint/2010/main" val="18218510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B3AAEF-B5BB-46F4-8E60-D21A5C46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Управляемый путь от идеи до принятой сборки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D4816F-6C1B-46E4-B734-C6AC3B93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8A857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A857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2BB586-2F82-4481-81B9-571C27D6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28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Каждый этап оставляет проверяемый результат и блокирует преждевременный переход дальше.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BFF69-5C6A-41E8-BC08-5752A1BB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57550"/>
            <a:ext cx="956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C5B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BB88BC-2C2D-4FF0-8759-C33E566A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49E8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9E8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F02983-5236-4CB0-8DA7-FE59F15C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Scope и контракт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CF2E72-0719-402C-BFF2-E2066B4B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14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00F"/>
          </a:solidFill>
          <a:ln xmlns:a="http://schemas.openxmlformats.org/drawingml/2006/main" w="0">
            <a:solidFill>
              <a:srgbClr val="11100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45099B-900C-4BC5-911B-115103CD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05225"/>
            <a:ext cx="2343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Границы, экраны, состояния, сценарии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8BDEF8-4E8B-436E-8C07-A0F07C2B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23241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9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9ECD51-2FAA-42FF-8061-1499CCD8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526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49E8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9E8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DF9BE9-29AE-498C-97BC-CF484FDF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1460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Один стиль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9BF77E-3E11-466D-A0D1-1DDCE2A2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14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00F"/>
          </a:solidFill>
          <a:ln xmlns:a="http://schemas.openxmlformats.org/drawingml/2006/main" w="0">
            <a:solidFill>
              <a:srgbClr val="11100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C78B67-1896-4EDD-A7E5-633E0081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05225"/>
            <a:ext cx="2343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До трёх кандидатов, затем одно подтверждение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D9BF41-29F1-47AC-AAFC-9E9ACA86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876800"/>
            <a:ext cx="23241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D8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C11244-FA38-4EAE-A8D4-45A64AF4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526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49E8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9E8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E4066C-FC77-4A03-B3AD-D4059E51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1460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Нативная реализация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985C6C-4692-4532-8FED-48357AB1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14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00F"/>
          </a:solidFill>
          <a:ln xmlns:a="http://schemas.openxmlformats.org/drawingml/2006/main" w="0">
            <a:solidFill>
              <a:srgbClr val="11100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729209-56E6-4846-82AF-E5CFB55A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05225"/>
            <a:ext cx="2343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Вертикальный сценарий, затем полный scope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0BCE38-1639-4154-B912-1129BA2D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76800"/>
            <a:ext cx="23241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F15F25-55D5-49E1-8B1C-41CF313C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526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49E8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9E8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E5A4A0-DC5C-45B6-9988-F9FBDF8D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1460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Приёмка и передача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97266D-C484-40A2-B567-E523678A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14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38100">
            <a:solidFill>
              <a:srgbClr val="149E8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04F1B7-1C51-459C-ADE7-2FA11C59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05225"/>
            <a:ext cx="2343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Simulator, interaction, визуальная проверка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37C31E-420F-456E-8AF7-E4CA3C6F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76800"/>
            <a:ext cx="23241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F01281-91B5-49EB-A416-039290FB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648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Скриншоты для стора создаются только после APP ACCEPTED и только из реальных экранов финальной сборки.</a:t>
            </a:r>
          </a:p>
        </p:txBody>
      </p:sp>
    </p:spTree>
    <p:extLst>
      <p:ext uri="{BB962C8B-B14F-4D97-AF65-F5344CB8AC3E}">
        <p14:creationId xmlns:p14="http://schemas.microsoft.com/office/powerpoint/2010/main" val="2712081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5F70ED-7D80-4722-81CB-42EF878A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Роли и контроль ответственности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A5C9C4-5D3B-43F4-ADC1-8C009C68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8A857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A857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45AE0F-C382-49A2-B795-799D364D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Один мастер отвечает за результат. Узкие роли создают артефакты и не выходят за границы своего контракта.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F4DFE-AB64-4769-92E0-533DF3CA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09775"/>
            <a:ext cx="5067300" cy="110490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110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17A056-4358-4390-AAD5-61BCBC40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23837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9E8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9E87"/>
                </a:solidFill>
                <a:latin typeface="Arial"/>
                <a:ea typeface="Arial"/>
                <a:cs typeface="Arial"/>
              </a:rPr>
              <a:t>MASTER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E525D-D33C-4777-A30A-FC7E36B1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5336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AF8F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AF8F2"/>
                </a:solidFill>
                <a:latin typeface="Arial"/>
                <a:ea typeface="Arial"/>
                <a:cs typeface="Arial"/>
              </a:rPr>
              <a:t>Оркестрирует run и принимает финальное решение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11869C-CDE4-47D3-BE2C-B35AFCA7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114675"/>
            <a:ext cx="19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4E5C88-1BBD-43F4-A9D8-2F78D652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43300"/>
            <a:ext cx="9486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C5B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51E485-C867-4F02-B979-461F5F0A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4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9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CE0016-B22A-4CE6-8F9A-F021B139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2038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9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9B8104-2042-47E0-AEFC-FD09EB61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81475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A857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A857C"/>
                </a:solidFill>
                <a:latin typeface="Arial"/>
                <a:ea typeface="Arial"/>
                <a:cs typeface="Arial"/>
              </a:rPr>
              <a:t>PRODUCT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8A857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A857C"/>
                </a:solidFill>
                <a:latin typeface="Arial"/>
                <a:ea typeface="Arial"/>
                <a:cs typeface="Arial"/>
              </a:rPr>
              <a:t>RESEARCHER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A41441-6270-4FA1-B1CD-63A02551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24425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Фиксирует scope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3C6AFA-D421-42FB-B560-7C1B23F4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14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D8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FB8FE1-2FAA-4A73-8F04-3DE4610E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05250"/>
            <a:ext cx="2038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D8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26192E-47FB-433C-ACE9-C4DF3EE8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81475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A857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A857C"/>
                </a:solidFill>
                <a:latin typeface="Arial"/>
                <a:ea typeface="Arial"/>
                <a:cs typeface="Arial"/>
              </a:rPr>
              <a:t>DESIGN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8A857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A857C"/>
                </a:solidFill>
                <a:latin typeface="Arial"/>
                <a:ea typeface="Arial"/>
                <a:cs typeface="Arial"/>
              </a:rPr>
              <a:t>PLANNER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21C0FF-2441-4D55-A8DA-C5FD7D45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24425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Создаёт контракт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993100-1518-41BA-AD35-3452EC2C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514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9DF23B-A410-4E41-8ADF-F4638F40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905250"/>
            <a:ext cx="2038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CC9D74-7755-4B5A-B795-C9DD9BBF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181475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A857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A857C"/>
                </a:solidFill>
                <a:latin typeface="Arial"/>
                <a:ea typeface="Arial"/>
                <a:cs typeface="Arial"/>
              </a:rPr>
              <a:t>IMPLEMENTATION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8A857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A857C"/>
                </a:solidFill>
                <a:latin typeface="Arial"/>
                <a:ea typeface="Arial"/>
                <a:cs typeface="Arial"/>
              </a:rPr>
              <a:t>OWNER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0FC39E-012C-4C24-8D3F-EAB4816E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24425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Пишет app code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A51DA9-3D9B-42F7-9E92-00D12C11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14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57FD73-1130-4DA5-9BE5-4E121BDE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05250"/>
            <a:ext cx="2038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5B2E3B-71F5-447A-9D79-A1E2E2EA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181475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A857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A857C"/>
                </a:solidFill>
                <a:latin typeface="Arial"/>
                <a:ea typeface="Arial"/>
                <a:cs typeface="Arial"/>
              </a:rPr>
              <a:t>VISUAL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8A857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A857C"/>
                </a:solidFill>
                <a:latin typeface="Arial"/>
                <a:ea typeface="Arial"/>
                <a:cs typeface="Arial"/>
              </a:rPr>
              <a:t>PRODUCER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2199B4-2735-4C46-8D79-AC30D253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924425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Готовит icon и store screens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011B2B-149D-41D9-BC29-664C5180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514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0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026F69-570C-438B-8032-C34C58B1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905250"/>
            <a:ext cx="2038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0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68EE24-EEFA-4E2C-937B-82AEA240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81475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A857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A857C"/>
                </a:solidFill>
                <a:latin typeface="Arial"/>
                <a:ea typeface="Arial"/>
                <a:cs typeface="Arial"/>
              </a:rPr>
              <a:t>ACCEPTANCE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8A857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A857C"/>
                </a:solidFill>
                <a:latin typeface="Arial"/>
                <a:ea typeface="Arial"/>
                <a:cs typeface="Arial"/>
              </a:rPr>
              <a:t>REVIEWER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ECFBD2-EDCD-4417-9004-630A6BD3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924425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Проверяет без фиксов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669A1D-0DBC-4C78-98E7-429C1FD2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49E8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9E87"/>
                </a:solidFill>
                <a:latin typeface="Arial"/>
                <a:ea typeface="Arial"/>
                <a:cs typeface="Arial"/>
              </a:rPr>
              <a:t>Ключевой принцип: исполнитель не может принять собственную работу.</a:t>
            </a:r>
          </a:p>
        </p:txBody>
      </p:sp>
    </p:spTree>
    <p:extLst>
      <p:ext uri="{BB962C8B-B14F-4D97-AF65-F5344CB8AC3E}">
        <p14:creationId xmlns:p14="http://schemas.microsoft.com/office/powerpoint/2010/main" val="17936581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C54688-8357-4A11-B76C-9764B6F2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На выходе остаются продукт и доказательства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7B3098-B58B-4750-BADC-12E77776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8A857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A857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607065-F8A3-4BB6-8D73-60B2B37E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9E8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9E8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8DC79F-A731-4A5C-84B6-75AD7886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19225"/>
            <a:ext cx="331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Нативное приложение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3FE64-E891-4406-8C55-AAD7AA49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419225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Xcode-проект, согласованный scope и один реализованный продуктовый сценарий за другим.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D117ED-1B1A-481B-BD41-E28327D0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95525"/>
            <a:ext cx="994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5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FCBC5E-0940-4428-819C-181DE807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9E8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9E8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2C3F6D-0A4D-413E-A854-61404B78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81275"/>
            <a:ext cx="331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581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Подтверждённый дизайн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E14C5B-24D2-4043-9E77-446F7EED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81275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Один локальный style package. Нативное поведение сохраняется, внешний вид следует выбранному языку.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9D65D9-58E5-474C-991F-1380691F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57575"/>
            <a:ext cx="994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5B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118708-C4D6-408B-B015-7AE6CAF6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9E8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9E8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CC4A9D-333D-433A-8B82-B294FE21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43325"/>
            <a:ext cx="331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3218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Доказательства по финальной версии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AE9A62-7549-4ADB-B654-EEE7BD95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743325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Сборка, запуск, действия в Simulator, визуальные состояния и реестр источников.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F91B32-44B8-45C4-8C30-B432BD07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9625"/>
            <a:ext cx="994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5B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9976DE-2FA9-44AC-B09C-C10F7BD2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9E8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9E8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F3CE02-9276-4C61-955A-6F3A4636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05375"/>
            <a:ext cx="331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Комплект для стора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675753-652C-4545-9279-E4606352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905375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Одна оригинальная app icon и один комплект скриншотов из принятой сборки.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4B64C4-5FF1-4124-AB1D-34048686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81675"/>
            <a:ext cx="994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5B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E06E8C-0916-4144-90DD-E8D4DB8F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706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110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77A562-BE9F-45F4-9357-A391FAED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62675"/>
            <a:ext cx="10248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AF8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AF8F2"/>
                </a:solidFill>
                <a:latin typeface="Arial"/>
                <a:ea typeface="Arial"/>
                <a:cs typeface="Arial"/>
              </a:rPr>
              <a:t>Если инструмент или доказательство недоступны, статус остаётся UNVERIFIED.</a:t>
            </a:r>
          </a:p>
        </p:txBody>
      </p:sp>
    </p:spTree>
    <p:extLst>
      <p:ext uri="{BB962C8B-B14F-4D97-AF65-F5344CB8AC3E}">
        <p14:creationId xmlns:p14="http://schemas.microsoft.com/office/powerpoint/2010/main" val="70046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24D883-BC5B-4B7E-9E18-E0703D5D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Изменение операционной модели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34C1C-BB4D-4692-82B9-9994CAD5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8A857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A857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7814D5-2603-4ADA-BF58-09D702EF6903}"/>
              </a:ext>
            </a:extLst>
          </p:cNvPr>
          <p:cNvGraphicFramePr/>
          <p:nvPr/>
        </p:nvGraphicFramePr>
        <p:xfrm>
          <a:off xmlns:a="http://schemas.openxmlformats.org/drawingml/2006/main" x="628650" y="1352550"/>
          <a:ext xmlns:a="http://schemas.openxmlformats.org/drawingml/2006/main" cx="109347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62200"/>
                <a:gridCol w="3905250"/>
                <a:gridCol w="4667250"/>
              </a:tblGrid>
              <a:tr h="590550"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AF8F2"/>
                          </a:solidFill>
                          <a:latin typeface="Arial"/>
                          <a:ea typeface="Arial"/>
                          <a:cs typeface="Arial"/>
                        </a:rPr>
                        <a:t>Контрольная точка</a:t>
                      </a:r>
                    </a:p>
                  </a:txBody>
                  <a:tcPr marL="91440" marR="91440" marT="45720" marB="45720" anchor="ctr">
                    <a:solidFill>
                      <a:srgbClr val="11100F"/>
                    </a:solidFill>
                  </a:tcPr>
                </a:tc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AF8F2"/>
                          </a:solidFill>
                          <a:latin typeface="Arial"/>
                          <a:ea typeface="Arial"/>
                          <a:cs typeface="Arial"/>
                        </a:rPr>
                        <a:t>Ad hoc работа с агентом</a:t>
                      </a:r>
                    </a:p>
                  </a:txBody>
                  <a:tcPr marL="91440" marR="91440" marT="45720" marB="45720" anchor="ctr">
                    <a:solidFill>
                      <a:srgbClr val="11100F"/>
                    </a:solidFill>
                  </a:tcPr>
                </a:tc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AF8F2"/>
                          </a:solidFill>
                          <a:latin typeface="Arial"/>
                          <a:ea typeface="Arial"/>
                          <a:cs typeface="Arial"/>
                        </a:rPr>
                        <a:t>Trixter</a:t>
                      </a:r>
                    </a:p>
                  </a:txBody>
                  <a:tcPr marL="91440" marR="91440" marT="45720" marB="45720" anchor="ctr">
                    <a:solidFill>
                      <a:srgbClr val="11100F"/>
                    </a:solidFill>
                  </a:tcPr>
                </a:tc>
              </a:tr>
              <a:tr h="790575"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6D6961"/>
                          </a:solidFill>
                          <a:latin typeface="Arial"/>
                          <a:ea typeface="Arial"/>
                          <a:cs typeface="Arial"/>
                        </a:rPr>
                        <a:t>Старт UI</a:t>
                      </a:r>
                    </a:p>
                  </a:txBody>
                  <a:tcPr marL="91440" marR="91440" marT="45720" marB="45720" anchor="ctr">
                    <a:solidFill>
                      <a:srgbClr val="FAF8F2"/>
                    </a:solidFill>
                  </a:tcPr>
                </a:tc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6D6961"/>
                          </a:solidFill>
                          <a:latin typeface="Arial"/>
                          <a:ea typeface="Arial"/>
                          <a:cs typeface="Arial"/>
                        </a:rPr>
                        <a:t>После общего запроса</a:t>
                      </a:r>
                    </a:p>
                  </a:txBody>
                  <a:tcPr marL="91440" marR="91440" marT="45720" marB="45720" anchor="ctr">
                    <a:solidFill>
                      <a:srgbClr val="FAF8F2"/>
                    </a:solidFill>
                  </a:tcPr>
                </a:tc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1100F"/>
                          </a:solidFill>
                          <a:latin typeface="Arial"/>
                          <a:ea typeface="Arial"/>
                          <a:cs typeface="Arial"/>
                        </a:rPr>
                        <a:t>После scope, контракта и выбора одного стиля</a:t>
                      </a:r>
                    </a:p>
                  </a:txBody>
                  <a:tcPr marL="91440" marR="91440" marT="45720" marB="45720" anchor="ctr">
                    <a:solidFill>
                      <a:srgbClr val="EAF6F2"/>
                    </a:solidFill>
                  </a:tcPr>
                </a:tc>
              </a:tr>
              <a:tr h="790575"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6D6961"/>
                          </a:solidFill>
                          <a:latin typeface="Arial"/>
                          <a:ea typeface="Arial"/>
                          <a:cs typeface="Arial"/>
                        </a:rPr>
                        <a:t>Дизайн-контекст</a:t>
                      </a:r>
                    </a:p>
                  </a:txBody>
                  <a:tcPr marL="91440" marR="91440" marT="45720" marB="45720" anchor="ctr">
                    <a:solidFill>
                      <a:srgbClr val="FAF8F2"/>
                    </a:solidFill>
                  </a:tcPr>
                </a:tc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6D6961"/>
                          </a:solidFill>
                          <a:latin typeface="Arial"/>
                          <a:ea typeface="Arial"/>
                          <a:cs typeface="Arial"/>
                        </a:rPr>
                        <a:t>Может меняться по ходу</a:t>
                      </a:r>
                    </a:p>
                  </a:txBody>
                  <a:tcPr marL="91440" marR="91440" marT="45720" marB="45720" anchor="ctr">
                    <a:solidFill>
                      <a:srgbClr val="FAF8F2"/>
                    </a:solidFill>
                  </a:tcPr>
                </a:tc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1100F"/>
                          </a:solidFill>
                          <a:latin typeface="Arial"/>
                          <a:ea typeface="Arial"/>
                          <a:cs typeface="Arial"/>
                        </a:rPr>
                        <a:t>Один локальный пакет для всего run</a:t>
                      </a:r>
                    </a:p>
                  </a:txBody>
                  <a:tcPr marL="91440" marR="91440" marT="45720" marB="45720" anchor="ctr">
                    <a:solidFill>
                      <a:srgbClr val="EAF6F2"/>
                    </a:solidFill>
                  </a:tcPr>
                </a:tc>
              </a:tr>
              <a:tr h="790575"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6D6961"/>
                          </a:solidFill>
                          <a:latin typeface="Arial"/>
                          <a:ea typeface="Arial"/>
                          <a:cs typeface="Arial"/>
                        </a:rPr>
                        <a:t>Ответственность</a:t>
                      </a:r>
                    </a:p>
                  </a:txBody>
                  <a:tcPr marL="91440" marR="91440" marT="45720" marB="45720" anchor="ctr">
                    <a:solidFill>
                      <a:srgbClr val="FAF8F2"/>
                    </a:solidFill>
                  </a:tcPr>
                </a:tc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6D6961"/>
                          </a:solidFill>
                          <a:latin typeface="Arial"/>
                          <a:ea typeface="Arial"/>
                          <a:cs typeface="Arial"/>
                        </a:rPr>
                        <a:t>Один исполнитель сообщает о результате</a:t>
                      </a:r>
                    </a:p>
                  </a:txBody>
                  <a:tcPr marL="91440" marR="91440" marT="45720" marB="45720" anchor="ctr">
                    <a:solidFill>
                      <a:srgbClr val="FAF8F2"/>
                    </a:solidFill>
                  </a:tcPr>
                </a:tc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1100F"/>
                          </a:solidFill>
                          <a:latin typeface="Arial"/>
                          <a:ea typeface="Arial"/>
                          <a:cs typeface="Arial"/>
                        </a:rPr>
                        <a:t>Роли разделены, мастер проверяет handoff</a:t>
                      </a:r>
                    </a:p>
                  </a:txBody>
                  <a:tcPr marL="91440" marR="91440" marT="45720" marB="45720" anchor="ctr">
                    <a:solidFill>
                      <a:srgbClr val="EAF6F2"/>
                    </a:solidFill>
                  </a:tcPr>
                </a:tc>
              </a:tr>
              <a:tr h="790575"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6D6961"/>
                          </a:solidFill>
                          <a:latin typeface="Arial"/>
                          <a:ea typeface="Arial"/>
                          <a:cs typeface="Arial"/>
                        </a:rPr>
                        <a:t>Критерий готовности</a:t>
                      </a:r>
                    </a:p>
                  </a:txBody>
                  <a:tcPr marL="91440" marR="91440" marT="45720" marB="45720" anchor="ctr">
                    <a:solidFill>
                      <a:srgbClr val="FAF8F2"/>
                    </a:solidFill>
                  </a:tcPr>
                </a:tc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6D6961"/>
                          </a:solidFill>
                          <a:latin typeface="Arial"/>
                          <a:ea typeface="Arial"/>
                          <a:cs typeface="Arial"/>
                        </a:rPr>
                        <a:t>Код написан или проект собирается</a:t>
                      </a:r>
                    </a:p>
                  </a:txBody>
                  <a:tcPr marL="91440" marR="91440" marT="45720" marB="45720" anchor="ctr">
                    <a:solidFill>
                      <a:srgbClr val="FAF8F2"/>
                    </a:solidFill>
                  </a:tcPr>
                </a:tc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1100F"/>
                          </a:solidFill>
                          <a:latin typeface="Arial"/>
                          <a:ea typeface="Arial"/>
                          <a:cs typeface="Arial"/>
                        </a:rPr>
                        <a:t>Точный build воспроизведён в Simulator</a:t>
                      </a:r>
                    </a:p>
                  </a:txBody>
                  <a:tcPr marL="91440" marR="91440" marT="45720" marB="45720" anchor="ctr">
                    <a:solidFill>
                      <a:srgbClr val="EAF6F2"/>
                    </a:solidFill>
                  </a:tcPr>
                </a:tc>
              </a:tr>
              <a:tr h="790575"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6D6961"/>
                          </a:solidFill>
                          <a:latin typeface="Arial"/>
                          <a:ea typeface="Arial"/>
                          <a:cs typeface="Arial"/>
                        </a:rPr>
                        <a:t>След решения</a:t>
                      </a:r>
                    </a:p>
                  </a:txBody>
                  <a:tcPr marL="91440" marR="91440" marT="45720" marB="45720" anchor="ctr">
                    <a:solidFill>
                      <a:srgbClr val="FAF8F2"/>
                    </a:solidFill>
                  </a:tcPr>
                </a:tc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6D6961"/>
                          </a:solidFill>
                          <a:latin typeface="Arial"/>
                          <a:ea typeface="Arial"/>
                          <a:cs typeface="Arial"/>
                        </a:rPr>
                        <a:t>История чата</a:t>
                      </a:r>
                    </a:p>
                  </a:txBody>
                  <a:tcPr marL="91440" marR="91440" marT="45720" marB="45720" anchor="ctr">
                    <a:solidFill>
                      <a:srgbClr val="FAF8F2"/>
                    </a:solidFill>
                  </a:tcPr>
                </a:tc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1100F"/>
                          </a:solidFill>
                          <a:latin typeface="Arial"/>
                          <a:ea typeface="Arial"/>
                          <a:cs typeface="Arial"/>
                        </a:rPr>
                        <a:t>Контракт, evidence и review внутри репозитория</a:t>
                      </a:r>
                    </a:p>
                  </a:txBody>
                  <a:tcPr marL="91440" marR="91440" marT="45720" marB="45720" anchor="ctr">
                    <a:solidFill>
                      <a:srgbClr val="EAF6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19848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4639AD-CC56-4B0C-8198-0B940375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Готовность комплекта и границы применения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67C2DE-9D33-4D60-BF37-2C0C8A42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8A857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A857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3242F3-399C-419A-9C88-E2D1D975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2362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75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2.0.0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B4D45-E706-403B-9990-ED0F447C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050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версия в репозитории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FCE99-34DC-46F0-BA03-7B367B37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352550"/>
            <a:ext cx="2362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75" b="1">
                <a:solidFill>
                  <a:srgbClr val="149E87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49E87"/>
                </a:solidFill>
                <a:latin typeface="Arial"/>
                <a:ea typeface="Arial"/>
                <a:cs typeface="Arial"/>
              </a:rPr>
              <a:t>25 / 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E455B-CD80-4C7A-B6F1-1BC2D91D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050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локальные тесты прошли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83465F-6E1A-4402-8BB8-D6E3FC42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352550"/>
            <a:ext cx="2362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75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277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CE39BC-C9D3-49DC-A1FB-03E80E3C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050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пакетов в каталоге стилей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DA8EF-C693-4634-9583-DBA47565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352550"/>
            <a:ext cx="2362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75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092983-6551-4529-9106-59B7AF12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050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файлов в npm 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A5B684-E58E-469F-A0DF-F40446C4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C5B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1C80BB-CF36-4AC0-B0ED-7C906350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Среда запуска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6943A6-33D7-4A91-816A-E8C25F75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46672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macOS, Xcode, подходящий iOS Simulator, Node.js 20+ и agent harness, который читает инструкции проекта.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005EB3-5C59-439B-94F1-F4ADF959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Отдельный контур релиза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37FB03-2239-4547-8A34-A1A551DB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86200"/>
            <a:ext cx="46672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Подписание, release archive, физические устройства, App Store submission и внешняя production-инфраструктура.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B77196-EAD5-4968-96C8-CB5EB6E5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E29A27-BD38-498D-9FA4-1DBB6183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86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A85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A857C"/>
                </a:solidFill>
                <a:latin typeface="Arial"/>
                <a:ea typeface="Arial"/>
                <a:cs typeface="Arial"/>
              </a:rPr>
              <a:t>Свежая проверка checkout: 9 октября 2026</a:t>
            </a:r>
          </a:p>
        </p:txBody>
      </p:sp>
    </p:spTree>
    <p:extLst>
      <p:ext uri="{BB962C8B-B14F-4D97-AF65-F5344CB8AC3E}">
        <p14:creationId xmlns:p14="http://schemas.microsoft.com/office/powerpoint/2010/main" val="5269612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70D0BD-55BF-49F1-A988-ABF1096D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Предлагаемый управленческий пилот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9D157-4304-4738-80BF-F4A89D9B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8A857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A857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B2B2D-71DC-4160-BADB-489A2421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Один реальный продуктовый сценарий даёт больше сигнала, чем демонстрационный проект: руководитель увидит стоимость контроля и качество evidence на своей команде.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AB7C4-E898-4455-8AC3-57E4431C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Контур пилота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7463D8-3895-415F-966D-5B75F079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9E8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9E8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72CBE-CE69-4A6C-A049-369A607E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62275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121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Выбрать приложение с одним основным сценарием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34F6B-381F-4E7B-B742-E9E270CB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9E8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9E8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DFDC67-08C7-4AF4-9A6F-BD1EE13B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3855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Зафиксировать scope и критерии приёмки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DA7DE9-7C0D-40C6-BF75-395F628E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9E8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9E8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9C1402-0755-4866-B041-40414FCE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14825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Провести один полный прогон без обхода ворот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F6399E-1827-47A3-8A5A-2B386368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9E8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9E8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39D173-6A02-4BF8-9C30-E61B7F98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9110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Принять решение по фактическому отчёту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6E3CC2-795E-454D-B890-5BDC1DF9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43150"/>
            <a:ext cx="4705350" cy="3295650"/>
          </a:xfrm>
          <a:prstGeom xmlns:a="http://schemas.openxmlformats.org/drawingml/2006/main" prst="roundRect">
            <a:avLst>
              <a:gd name="adj" fmla="val 7514"/>
            </a:avLst>
          </a:prstGeom>
          <a:solidFill xmlns:a="http://schemas.openxmlformats.org/drawingml/2006/main">
            <a:srgbClr val="F5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84FC68-5168-495B-B2B1-CBFCA575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8605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Сигналы для решения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F99ECE-7786-40E5-BD62-B9CD1963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194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389B80-0224-40DA-B53E-405F45B5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528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Время до принятой сборки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09E11D-633B-440A-8B77-FF33893A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528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2E7CE6-3466-4C8E-9B78-3FF4D0FD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862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Количество циклов исправлений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D121AB-6DDF-4CAB-BC07-2A643302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862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57586E-F9DC-4BAE-81BB-57242BB8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196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Изменения scope после контракта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3F8BBD-53F9-4EC7-A2AD-AAC706A5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196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82A0A3-3AD4-4953-8985-1730E67C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530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5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D6961"/>
                </a:solidFill>
                <a:latin typeface="Arial"/>
                <a:ea typeface="Arial"/>
                <a:cs typeface="Arial"/>
              </a:rPr>
              <a:t>Число критериев со статусом UNVERIFIED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7308BD-24CD-45CC-83B3-6FE9C06E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49E8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9E87"/>
                </a:solidFill>
                <a:latin typeface="Arial"/>
                <a:ea typeface="Arial"/>
                <a:cs typeface="Arial"/>
              </a:rPr>
              <a:t>Целевые значения задаются до пилота на основе текущего процесса команды.</a:t>
            </a:r>
          </a:p>
        </p:txBody>
      </p:sp>
    </p:spTree>
    <p:extLst>
      <p:ext uri="{BB962C8B-B14F-4D97-AF65-F5344CB8AC3E}">
        <p14:creationId xmlns:p14="http://schemas.microsoft.com/office/powerpoint/2010/main" val="8504607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0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199CF3-C9DB-4AFD-AB43-AF263CBE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AF8F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AF8F2"/>
                </a:solidFill>
                <a:latin typeface="Arial"/>
                <a:ea typeface="Arial"/>
                <a:cs typeface="Arial"/>
              </a:rPr>
              <a:t>Решение для запуска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4449F-2675-465A-8AED-30709A48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A8A39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8A39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FFB34-666E-4753-8779-832A4021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72390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FAF8F2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AF8F2"/>
                </a:solidFill>
                <a:latin typeface="Arial"/>
                <a:ea typeface="Arial"/>
                <a:cs typeface="Arial"/>
              </a:rPr>
              <a:t>Одобрить один</a:t>
            </a:r>
          </a:p>
          <a:p xmlns:a="http://schemas.openxmlformats.org/drawingml/2006/main">
            <a:pPr algn="l">
              <a:buNone/>
              <a:defRPr sz="4800" b="1">
                <a:solidFill>
                  <a:srgbClr val="FAF8F2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AF8F2"/>
                </a:solidFill>
                <a:latin typeface="Arial"/>
                <a:ea typeface="Arial"/>
                <a:cs typeface="Arial"/>
              </a:rPr>
              <a:t>ограниченный пилот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AD62E1-747B-4966-B09B-AFF54356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6858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B9B5A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B5AC"/>
                </a:solidFill>
                <a:latin typeface="Arial"/>
                <a:ea typeface="Arial"/>
                <a:cs typeface="Arial"/>
              </a:rPr>
              <a:t>Нужны выбранный iOS-проект, ответственный за scope продукта и руководитель, который примет итоговый отчёт.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ACAB75-039F-4FC6-AF74-84ADD258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19250"/>
            <a:ext cx="3048000" cy="3048000"/>
          </a:xfrm>
          <a:prstGeom xmlns:a="http://schemas.openxmlformats.org/drawingml/2006/main" prst="roundRect">
            <a:avLst>
              <a:gd name="adj" fmla="val 10625"/>
            </a:avLst>
          </a:prstGeom>
          <a:solidFill xmlns:a="http://schemas.openxmlformats.org/drawingml/2006/main">
            <a:srgbClr val="149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729511-4BE6-4A4E-856B-8901A2AD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383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Результат пилота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A90DBF-3651-40F0-9D7B-AA967A68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05100"/>
            <a:ext cx="2381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ACCEPTED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NEEDS WORK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UNVERIFIED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468B2B-EC59-4F7D-A5FC-5D82C2E0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388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9E8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9E87"/>
                </a:solidFill>
                <a:latin typeface="Arial"/>
                <a:ea typeface="Arial"/>
                <a:cs typeface="Arial"/>
              </a:rPr>
              <a:t>Каждый статус связан с evidence в репозитории.</a:t>
            </a:r>
          </a:p>
        </p:txBody>
      </p:sp>
    </p:spTree>
    <p:extLst>
      <p:ext uri="{BB962C8B-B14F-4D97-AF65-F5344CB8AC3E}">
        <p14:creationId xmlns:p14="http://schemas.microsoft.com/office/powerpoint/2010/main" val="20651672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2026-10-09T12:05:55.0070000Z</dcterms:created>
  <dcterms:modified xsi:type="dcterms:W3CDTF">2026-10-09T12:05:55.0070000Z</dcterms:modified>
</coreProperties>
</file>