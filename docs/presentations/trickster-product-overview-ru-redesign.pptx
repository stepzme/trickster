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5af276c724292" /><Relationship Type="http://schemas.openxmlformats.org/officeDocument/2006/relationships/extended-properties" Target="/docProps/app.xml" Id="R960dbdff26f54a25" /><Relationship Type="http://schemas.openxmlformats.org/officeDocument/2006/relationships/officeDocument" Target="/ppt/presentation.xml" Id="R02725dff0eb644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7d8f5cf6245d2"/>
  </p:sldMasterIdLst>
  <p:notesMasterIdLst>
    <p:notesMasterId xmlns:r="http://schemas.openxmlformats.org/officeDocument/2006/relationships" r:id="R840a67f0b15042b1"/>
  </p:notesMasterIdLst>
  <p:sldIdLst>
    <p:sldId xmlns:r="http://schemas.openxmlformats.org/officeDocument/2006/relationships" id="256" r:id="Rabe3568bc8474d8e"/>
    <p:sldId xmlns:r="http://schemas.openxmlformats.org/officeDocument/2006/relationships" id="257" r:id="R53641cd00af34379"/>
    <p:sldId xmlns:r="http://schemas.openxmlformats.org/officeDocument/2006/relationships" id="258" r:id="Rd678c57959134cf3"/>
    <p:sldId xmlns:r="http://schemas.openxmlformats.org/officeDocument/2006/relationships" id="259" r:id="Rf4a44bc667ab444a"/>
    <p:sldId xmlns:r="http://schemas.openxmlformats.org/officeDocument/2006/relationships" id="260" r:id="Ra54d8f785347424d"/>
    <p:sldId xmlns:r="http://schemas.openxmlformats.org/officeDocument/2006/relationships" id="261" r:id="R6eec480cb8b44580"/>
    <p:sldId xmlns:r="http://schemas.openxmlformats.org/officeDocument/2006/relationships" id="262" r:id="R844e680b480140af"/>
    <p:sldId xmlns:r="http://schemas.openxmlformats.org/officeDocument/2006/relationships" id="263" r:id="Rc990475554c64f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b969b328d4d02" /><Relationship Type="http://schemas.openxmlformats.org/officeDocument/2006/relationships/slideMaster" Target="/ppt/slideMasters/slideMaster1.xml" Id="R35f7d8f5cf6245d2" /><Relationship Type="http://schemas.openxmlformats.org/officeDocument/2006/relationships/notesMaster" Target="/ppt/notesMasters/notesMaster1.xml" Id="R840a67f0b15042b1" /><Relationship Type="http://schemas.openxmlformats.org/officeDocument/2006/relationships/presProps" Target="/ppt/presProps.xml" Id="R502d39a9e3524aae" /><Relationship Type="http://schemas.openxmlformats.org/officeDocument/2006/relationships/tableStyles" Target="/ppt/tableStyles.xml" Id="Rdc77532bdfc24315" /><Relationship Type="http://schemas.openxmlformats.org/officeDocument/2006/relationships/slide" Target="/ppt/slides/slide1.xml" Id="Rabe3568bc8474d8e" /><Relationship Type="http://schemas.openxmlformats.org/officeDocument/2006/relationships/slide" Target="/ppt/slides/slide2.xml" Id="R53641cd00af34379" /><Relationship Type="http://schemas.openxmlformats.org/officeDocument/2006/relationships/slide" Target="/ppt/slides/slide3.xml" Id="Rd678c57959134cf3" /><Relationship Type="http://schemas.openxmlformats.org/officeDocument/2006/relationships/slide" Target="/ppt/slides/slide4.xml" Id="Rf4a44bc667ab444a" /><Relationship Type="http://schemas.openxmlformats.org/officeDocument/2006/relationships/slide" Target="/ppt/slides/slide5.xml" Id="Ra54d8f785347424d" /><Relationship Type="http://schemas.openxmlformats.org/officeDocument/2006/relationships/slide" Target="/ppt/slides/slide6.xml" Id="R6eec480cb8b44580" /><Relationship Type="http://schemas.openxmlformats.org/officeDocument/2006/relationships/slide" Target="/ppt/slides/slide7.xml" Id="R844e680b480140af" /><Relationship Type="http://schemas.openxmlformats.org/officeDocument/2006/relationships/slide" Target="/ppt/slides/slide8.xml" Id="Rc990475554c6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1bb6b373be4c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1fcb1ba484132" /><Relationship Type="http://schemas.openxmlformats.org/officeDocument/2006/relationships/notesMaster" Target="/ppt/notesMasters/notesMaster1.xml" Id="Rf78bb326d5e143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bbe5109194e4d" /><Relationship Type="http://schemas.openxmlformats.org/officeDocument/2006/relationships/notesMaster" Target="/ppt/notesMasters/notesMaster1.xml" Id="R4c6ca200740640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9b5171c53a44d8" /><Relationship Type="http://schemas.openxmlformats.org/officeDocument/2006/relationships/notesMaster" Target="/ppt/notesMasters/notesMaster1.xml" Id="Re68806297b2940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52d28d28f43fc" /><Relationship Type="http://schemas.openxmlformats.org/officeDocument/2006/relationships/notesMaster" Target="/ppt/notesMasters/notesMaster1.xml" Id="R05bea9c8aee244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475cc586384378" /><Relationship Type="http://schemas.openxmlformats.org/officeDocument/2006/relationships/notesMaster" Target="/ppt/notesMasters/notesMaster1.xml" Id="R0a21a245e1f649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65d748026643e1" /><Relationship Type="http://schemas.openxmlformats.org/officeDocument/2006/relationships/notesMaster" Target="/ppt/notesMasters/notesMaster1.xml" Id="Rad74b585bcac4f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0d163c93b43fd" /><Relationship Type="http://schemas.openxmlformats.org/officeDocument/2006/relationships/notesMaster" Target="/ppt/notesMasters/notesMaster1.xml" Id="R68571ef7dc5b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e91ed4c7f7435a" /><Relationship Type="http://schemas.openxmlformats.org/officeDocument/2006/relationships/notesMaster" Target="/ppt/notesMasters/notesMaster1.xml" Id="R006bb1b2264048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workflow/master-prompt.md. Обложка формулирует управленческую задачу, которую решает Trickster.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 продуктового решения: workflow/scope.md, workflow/style-reference.md, workflow/acceptance.md. Формулировки описывают риски, которые процесс Trickster ограничивает.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README.ru.md, installer/init.mjs, test/init.test.mjs. Установка является локальной для проекта. Глобальная установка самого npm-пакета отклоняется.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workflow/master-prompt.md, workflow/product-contract.md, workflow/implementation.md, workflow/acceptance.md, workflow/aso-screenshots.md.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workflow/orchestration.md, roles/*.md, workflow/acceptance.md. При отсутствии делегирования мастер выполняет контракты последовательно и фиксирует ограничение.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workflow/acceptance.md, workflow/delivery.md. Store screenshots создаются после принятия приложения и отражают реальные экраны финальной сборки.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package.json, styles/catalog.json, README.ru.md. Свежая локальная проверка 28.09.2026: npm test прошёл 13/13; npm pack --dry-run с временным кэшем показал 40 файлов. Метрики пилота являются рекомендацией, а не историческим результатом.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статусов: workflow/acceptance.md, workflow/delivery.md. Рекомендуемое решение: пилот на одном реальном приложении с заранее зафиксированными критериями.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5be92ca104c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8a981ce1a4ad6" /><Relationship Type="http://schemas.openxmlformats.org/officeDocument/2006/relationships/slideLayout" Target="/ppt/slideLayouts/slideLayout1.xml" Id="R1a1e22f1c1804b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1e22f1c1804b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041a19c2e4675" /><Relationship Type="http://schemas.openxmlformats.org/officeDocument/2006/relationships/image" Target="/ppt/media/image.png" Id="R4f3cad03481f44ee" /><Relationship Type="http://schemas.openxmlformats.org/officeDocument/2006/relationships/notesSlide" Target="/ppt/notesSlides/notesSlide1.xml" Id="Rbad09739777146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328fe13c34005" /><Relationship Type="http://schemas.openxmlformats.org/officeDocument/2006/relationships/notesSlide" Target="/ppt/notesSlides/notesSlide2.xml" Id="R0ed040c239b640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a13ec4edd4d9f" /><Relationship Type="http://schemas.openxmlformats.org/officeDocument/2006/relationships/notesSlide" Target="/ppt/notesSlides/notesSlide3.xml" Id="Rdefc8a0ee89941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7ef122eb4374" /><Relationship Type="http://schemas.openxmlformats.org/officeDocument/2006/relationships/notesSlide" Target="/ppt/notesSlides/notesSlide4.xml" Id="R01966195257d46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4ed26415a4ccc" /><Relationship Type="http://schemas.openxmlformats.org/officeDocument/2006/relationships/notesSlide" Target="/ppt/notesSlides/notesSlide5.xml" Id="R0faf3c4e3b26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8bc2a5ade458c" /><Relationship Type="http://schemas.openxmlformats.org/officeDocument/2006/relationships/notesSlide" Target="/ppt/notesSlides/notesSlide6.xml" Id="Ra3ebd7848f284c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ce183ec764aa7" /><Relationship Type="http://schemas.openxmlformats.org/officeDocument/2006/relationships/notesSlide" Target="/ppt/notesSlides/notesSlide7.xml" Id="Rc4a4f59d02d746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e31fe968f4382" /><Relationship Type="http://schemas.openxmlformats.org/officeDocument/2006/relationships/notesSlide" Target="/ppt/notesSlides/notesSlide8.xml" Id="R367110c90eb54e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cad03481f44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E9892-22E7-473B-A5BB-E858BBA4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59F2F-56B7-44DA-B252-4B979417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TRICKSTER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23F19-3822-4AB6-913E-AAF29F2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57150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AI пишет код.</a:t>
            </a:r>
          </a:p>
          <a:p xmlns:a="http://schemas.openxmlformats.org/drawingml/2006/main">
            <a:pPr algn="l">
              <a:defRPr sz="412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Руководитель отвечает</a:t>
            </a:r>
          </a:p>
          <a:p xmlns:a="http://schemas.openxmlformats.org/drawingml/2006/main">
            <a:pPr algn="l">
              <a:defRPr sz="412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за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DADEC-6FEB-4108-8873-B6A8784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Управляемый процесс разработки нативных iOS-приложений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C622F-9855-40DF-AFD0-D5CF277D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ПРОДУКТОВЫЙ ОБЗОР ДЛЯ РУКОВОДИТЕЛЕЙ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314788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27C9D-5BF3-4D1C-9CE0-FF2436C2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AB908-A923-4CF0-85AF-7C8AAAB4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69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B4362-67E7-4C7C-82D6-64F65DD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Скорость агента не решает проблему контроля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3AF5D-8989-449E-B2FF-FB960D50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Без фиксированных ворот команда получает быстрый код, но не управляемый 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ED6E5-CC27-4ED0-98BD-7B68452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1937B-760E-468E-ADFA-B70AED6C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47625">
            <a:solidFill>
              <a:srgbClr val="B8A2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704B6-3A63-4AFC-94B5-F8161EBE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57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99DEE-47FF-4892-B6AE-2BEA7539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A2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A2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D8AEA-FFE3-4B05-A1C4-88032397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Границы меняются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внутри реализации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1F158-CA38-4513-8F6A-8D2E2B2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47625">
            <a:solidFill>
              <a:srgbClr val="22D4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FD3F2-D480-4190-9FC9-B3AD9481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57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D0826-4D9A-483D-A470-D1A00936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7A774-038C-463D-BD59-ABBB6C07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400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Экраны расходятся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по стилю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E2833-3FF3-4DE8-84DC-9C1B209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47625">
            <a:solidFill>
              <a:srgbClr val="FFB3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E9FF3-6BFF-4295-AA42-7F8C5ACA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57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BE72D-6BF9-4F41-AEF7-ABD33BAD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3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35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7EFFC-45F4-4D58-920A-FBC5663B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00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Исполнитель сам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объявляет готовность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11D5C-1A7F-4FB7-B177-3689CCE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E8"/>
          </a:solidFill>
          <a:ln xmlns:a="http://schemas.openxmlformats.org/drawingml/2006/main" w="47625">
            <a:solidFill>
              <a:srgbClr val="FF6F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45948-3ACE-4BEC-8F65-0BCF39D7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57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90FAB-D0E5-4B71-85DD-6F35F84C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33193-64E5-4D07-9840-6950053B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00550"/>
            <a:ext cx="2362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Сборку принимают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без воспроизведения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CBF72-68E8-47F5-B01A-8CE375AF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Риск накапливается между точками. Руководитель видит его только в конце</a:t>
            </a:r>
          </a:p>
        </p:txBody>
      </p:sp>
    </p:spTree>
    <p:extLst>
      <p:ext uri="{BB962C8B-B14F-4D97-AF65-F5344CB8AC3E}">
        <p14:creationId xmlns:p14="http://schemas.microsoft.com/office/powerpoint/2010/main" val="1295997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D0652-3AA1-4BAE-A50F-39302136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B57F3-7B21-4902-B962-824C5CE1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69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687A5-80F2-44AE-A4B6-965C1F1E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Trickster устанавливает правила прямо в репозиторий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7CB33-B2EE-4FDC-ADCF-B5138E53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672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Контекст не остаётся в чате. Scope, роли, дизайн и доказательства живут рядом с кодом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4052B-B7EF-4E57-8CC9-F0BE471F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5429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0F0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71450" rIns="190500" bIns="952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npx @sgx22/trickster init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23667-FC76-42B5-ADC4-1CBAEC30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5715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Повторный запуск обновляет управляемые файлы и сохраняет выбранный стиль и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8D9FC-87F7-4451-9085-B7B1A5A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429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Один проект</a:t>
            </a:r>
          </a:p>
          <a:p xmlns:a="http://schemas.openxmlformats.org/drawingml/2006/main">
            <a:pPr algn="l">
              <a:defRPr sz="19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Один контракт</a:t>
            </a:r>
          </a:p>
          <a:p xmlns:a="http://schemas.openxmlformats.org/drawingml/2006/main">
            <a:pPr algn="l">
              <a:defRPr sz="19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Один след 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6C891-DF16-4945-82DF-26022917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57300"/>
            <a:ext cx="4019550" cy="4895850"/>
          </a:xfrm>
          <a:prstGeom xmlns:a="http://schemas.openxmlformats.org/drawingml/2006/main" prst="roundRect">
            <a:avLst>
              <a:gd name="adj" fmla="val 6161"/>
            </a:avLst>
          </a:prstGeom>
          <a:solidFill xmlns:a="http://schemas.openxmlformats.org/drawingml/2006/main">
            <a:srgbClr val="0B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56193-DFC8-4E15-B913-A9D1B8FF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D4B4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22D4B4"/>
                </a:solidFill>
                <a:latin typeface="Courier New"/>
                <a:ea typeface="Courier New"/>
                <a:cs typeface="Courier New"/>
              </a:rPr>
              <a:t>trickster/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39B79-190C-4FA6-B011-D78DE310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rPr>
              <a:t>├─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9937B-BB5A-4E4E-9D04-78D98E03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AGENTS.md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307C3-205C-43BC-8552-59D6CB2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431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правила проекта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0F566-D88E-4866-9BE8-4EEA8A5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rPr>
              <a:t>├─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BDFBA-5604-4B97-BDE4-55DA201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roles/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A214A2-32F6-4E4C-B4C2-D449CC3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099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контракты ролей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79FEA-72BF-4C94-BF8A-2C15C35B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rPr>
              <a:t>├─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51887-641A-4AEB-8F95-2B55ED41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workflow/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72889-6DF5-493B-B62A-51E87A7C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766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этапы и ворота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273116-B47D-42BD-8D58-BC20B0A5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rPr>
              <a:t>├─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9DC7F-028C-4449-93A5-3FC9C1B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434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design/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0896E-7D5D-461C-B5D4-09651E0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3434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подтверждённый стиль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E7892-D876-4E44-A7A5-5DE7E82B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10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AAB3AF"/>
                </a:solidFill>
                <a:latin typeface="Courier New"/>
                <a:ea typeface="Courier New"/>
                <a:cs typeface="Courier New"/>
              </a:rPr>
              <a:t>└─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19AC2-9D92-489A-9D68-A12686A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artifacts/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053D61-01C0-4384-BFC1-F954F75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0101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контракт и evidence</a:t>
            </a:r>
          </a:p>
        </p:txBody>
      </p:sp>
    </p:spTree>
    <p:extLst>
      <p:ext uri="{BB962C8B-B14F-4D97-AF65-F5344CB8AC3E}">
        <p14:creationId xmlns:p14="http://schemas.microsoft.com/office/powerpoint/2010/main" val="7508761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2C2C7-D244-402B-9EEA-33EF77CA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МЕХАНИЗМ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A63D1-4039-4337-8359-3FE931B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A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BC6A6-567C-47F2-96F3-A80ADE3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Четыре ворота удерживают качество до финальной сборки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23106-AC11-4D93-8CC5-58C1EEB5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Следующий этап начинается только после проверяемого результата текущего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FAF3D-CB13-45E6-A64B-DD54C056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62375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FA677-DC0B-4A95-A477-B6BCDA47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A2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A2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055A2-AA17-4C48-977C-36B5DA42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733C3-2EC7-4C6C-95BC-58816AAF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1A"/>
          </a:solidFill>
          <a:ln xmlns:a="http://schemas.openxmlformats.org/drawingml/2006/main" w="47625">
            <a:solidFill>
              <a:srgbClr val="B8A2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BAF9E-4492-4669-B3FD-DFEC75C8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1F4D9-0B4E-49DB-8E46-194A2CA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Границы и</a:t>
            </a:r>
          </a:p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критерии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35D16-7667-4EA6-8FC7-FDDA9341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AB019-4785-47BC-99DB-6709DF7F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STYLE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D7EEA-55E5-4EFA-888A-0A57CDE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1A"/>
          </a:solidFill>
          <a:ln xmlns:a="http://schemas.openxmlformats.org/drawingml/2006/main" w="47625">
            <a:solidFill>
              <a:srgbClr val="22D4B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7BCD1-3488-41A9-A163-6461A557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16A6E-56E5-44D7-B8B7-2FE373C7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815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Один</a:t>
            </a:r>
          </a:p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пакет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2672B-6061-49E1-B533-829D501A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3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3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57BA2-715A-41BA-903D-433A1DB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4F66E-83C0-4967-B726-B4E80F0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1A"/>
          </a:solidFill>
          <a:ln xmlns:a="http://schemas.openxmlformats.org/drawingml/2006/main" w="47625">
            <a:solidFill>
              <a:srgbClr val="FFB3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817AA-F0D6-4629-BB6B-C00A996D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3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A6D3F-91A2-45C8-B905-3F927DB7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15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Нативный</a:t>
            </a:r>
          </a:p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77D37A-0431-4B20-8F6A-319FEB30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25F0F-8257-4528-A843-C0F2B22F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C9147-9C08-4D11-970B-16B831B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86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C1A"/>
          </a:solidFill>
          <a:ln xmlns:a="http://schemas.openxmlformats.org/drawingml/2006/main" w="47625">
            <a:solidFill>
              <a:srgbClr val="22D4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E6B7B-FAD6-45E0-88B7-2003CA68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686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5BFAC-650A-48B1-ABE5-68B6039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81500"/>
            <a:ext cx="2133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Проверка и</a:t>
            </a:r>
          </a:p>
          <a:p xmlns:a="http://schemas.openxmlformats.org/drawingml/2006/main">
            <a:pPr algn="l">
              <a:defRPr sz="180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передача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53BDDC-2D56-4F5B-BE68-0A36B71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4E763-2A93-4C9E-B094-055EFCAE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Store screenshots появляются только после APP ACCEPTED и только из реальных экранов финальной сборки</a:t>
            </a:r>
          </a:p>
        </p:txBody>
      </p:sp>
    </p:spTree>
    <p:extLst>
      <p:ext uri="{BB962C8B-B14F-4D97-AF65-F5344CB8AC3E}">
        <p14:creationId xmlns:p14="http://schemas.microsoft.com/office/powerpoint/2010/main" val="1127649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F6C05-0491-4DD8-BD8D-2663DBD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УПРАВЛЕНИЕ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2BDF0-C026-4388-975C-F8DBA21E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69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7E4BD-4EDA-4E90-990E-F86EBCA5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Исполнитель не принимает собственную работу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D1150-165A-4DB8-9086-AA7D5BF2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Мастер удерживает scope и передаёт результат между независимыми контрактами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8CE2F-92F7-42B4-BED0-E5B2E38A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86609-B7FF-406C-9396-F456493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1051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Фиксирует входы,</a:t>
            </a:r>
          </a:p>
          <a:p xmlns:a="http://schemas.openxmlformats.org/drawingml/2006/main">
            <a:pPr algn="l">
              <a:defRPr sz="232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проверяет handoff,</a:t>
            </a:r>
          </a:p>
          <a:p xmlns:a="http://schemas.openxmlformats.org/drawingml/2006/main">
            <a:pPr algn="l">
              <a:defRPr sz="232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принимает 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DEF6-BED1-4586-BDD0-AA57071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05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3527B-5529-4D72-91AF-B9F7F24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17011-F66B-405E-80FF-0C75168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3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B35C"/>
                </a:solidFill>
                <a:latin typeface="Aptos"/>
                <a:ea typeface="Aptos"/>
                <a:cs typeface="Aptos"/>
              </a:rPr>
              <a:t>СОЗДАНИЕ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85CDF-A874-464D-A853-880444F1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8765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Product research</a:t>
            </a:r>
          </a:p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Design plan</a:t>
            </a:r>
          </a:p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Implementation</a:t>
            </a:r>
          </a:p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Visual 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2A757-A690-4505-8C26-69F4E817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190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EB09F-8045-456F-A941-347554F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НЕЗАВИСИМАЯ ПРИЁМКА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C6132-4446-4285-8902-F1C06016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85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Acceptance reviewer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Проверяет без фиксов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03F17-B3C2-4E8C-8DD4-38F3CA00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934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B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4A7EB-8780-4BCE-8E6A-7C33C64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42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Если делегирование недоступно, мастер сохраняет те же контракты и фиксирует ограничение</a:t>
            </a:r>
          </a:p>
        </p:txBody>
      </p:sp>
    </p:spTree>
    <p:extLst>
      <p:ext uri="{BB962C8B-B14F-4D97-AF65-F5344CB8AC3E}">
        <p14:creationId xmlns:p14="http://schemas.microsoft.com/office/powerpoint/2010/main" val="2030425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6B6C3-EAA0-4EB4-B4EF-DB95E56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30190-2CA9-4F27-99CA-8D2459DB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2CE3B-68FA-4DF3-ABBF-89DCF66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9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Готовность подтверждается по точной сборке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C622-EED7-49BD-9749-E5F385C1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Зелёный build важен, но решение принимает воспроизведённый пользовательский сценарий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E026C-67DD-41A3-9609-F9588CF7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5829300" cy="26098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151C1A"/>
          </a:solidFill>
          <a:ln xmlns:a="http://schemas.openxmlformats.org/drawingml/2006/main" w="19050">
            <a:solidFill>
              <a:srgbClr val="26312E"/>
            </a:solidFill>
            <a:prstDash val="solid"/>
          </a:ln>
        </p:spPr>
        <p:txBody>
          <a:bodyPr xmlns:a="http://schemas.openxmlformats.org/drawingml/2006/main" wrap="square" lIns="266700" tIns="247650" rIns="2476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$ xcodebuild …</a:t>
            </a:r>
          </a:p>
          <a:p xmlns:a="http://schemas.openxmlformats.org/drawingml/2006/main">
            <a:pPr algn="l">
              <a:def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BUILD SUCCEEDED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$ boot Simulator</a:t>
            </a:r>
          </a:p>
          <a:p xmlns:a="http://schemas.openxmlformats.org/drawingml/2006/main">
            <a:pPr algn="l">
              <a:def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$ run exact build</a:t>
            </a:r>
          </a:p>
          <a:p xmlns:a="http://schemas.openxmlformats.org/drawingml/2006/main">
            <a:pPr algn="l">
              <a:def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BFAF6"/>
                </a:solidFill>
                <a:latin typeface="Courier New"/>
                <a:ea typeface="Courier New"/>
                <a:cs typeface="Courier New"/>
              </a:rPr>
              <a:t>$ execute acceptance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20F86-D69D-498D-A51A-B55CFAF2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EVIDENCE REGISTER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68CD2-2E24-42C6-8B74-51539476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0AAF5-A73E-4E27-AF66-D2BD6DEC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575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D0446-92EF-4C5B-A79E-6D95796B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собран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A2D19-0D55-43CF-B031-0AFD6414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B54E3-CDDE-4E70-A7AF-A1F5C9E8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E5282-6DCE-407E-B98E-C5219926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запущен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FE396-498C-446C-B837-BD91E398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BF382-A1F6-47CA-845C-9FA7AB8C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624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INTERACTION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7F53B-28C0-46FE-ADD6-FA812460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624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воспроизведён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BF303-8A6B-45C8-9A0D-EA75589F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53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4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FF316-04AA-4EE6-B18F-38A3C5F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14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VISUAL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19320-3710-44CA-97CE-19636D4D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1490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проверен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CC7E6-C918-4A67-AA6A-1F3255A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05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53A11-BCEA-4693-BEBC-6B220723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73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MISSING TOOL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5DAEE-FA0A-4FCD-9577-FD3C09EB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673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UNVERIFIED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E583F-F3E2-4FF3-8EE1-3580A791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Недоступный инструмент не превращается в PASS</a:t>
            </a:r>
          </a:p>
        </p:txBody>
      </p:sp>
    </p:spTree>
    <p:extLst>
      <p:ext uri="{BB962C8B-B14F-4D97-AF65-F5344CB8AC3E}">
        <p14:creationId xmlns:p14="http://schemas.microsoft.com/office/powerpoint/2010/main" val="33723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1358A-AD50-48E1-938C-B59CE723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A1501-19A8-47CB-B04B-D2EF3E44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0696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59322-90B5-4481-B788-2B313012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Комплект готов к пилоту. Ценность покажет реальный продукт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55E70-5966-4F07-B1B5-68DD2366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1.0.1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FAF52-9011-4991-9C21-47921D07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версия пакета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BDC1D-2F77-4178-8008-F00FEFC7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240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13/13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0B08-18DB-42A9-97B1-FBDA8160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локальные тесты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D558E-05CF-403E-B9AF-5F749B9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275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21425-1B88-41FB-A5B3-F356A575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пакетов стилей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34A4E-9FD2-4C4A-8D7E-01E2A77C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240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1551E-8F36-452D-ABE2-EA58B5F2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файлов в npm dry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F4D81-28A2-4082-B17C-D6B7D3B8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4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C1D39-832B-4F6C-9574-0A41180D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7D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A7D6B"/>
                </a:solidFill>
                <a:latin typeface="Aptos"/>
                <a:ea typeface="Aptos"/>
                <a:cs typeface="Aptos"/>
              </a:rPr>
              <a:t>ОДИН ПИЛОТНЫЙ СЦЕНАРИЙ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A70AF-0C05-4C74-AC00-4E843264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Выбранный iOS-проект</a:t>
            </a:r>
          </a:p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Фиксированный scope</a:t>
            </a:r>
          </a:p>
          <a:p xmlns:a="http://schemas.openxmlformats.org/drawingml/2006/main">
            <a:pPr algn="l">
              <a:defRPr sz="2100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Полный прогон без обхода ворот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D258B-7CDC-43D9-B297-6F0CDC74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СИГНАЛЫ ДЛЯ РЕШЕНИЯ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97375-C97B-4E80-83F4-53CC17BE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Время до принятой сборки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Циклы исправлений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Изменения scope после контракта</a:t>
            </a:r>
          </a:p>
          <a:p xmlns:a="http://schemas.openxmlformats.org/drawingml/2006/main">
            <a:pPr algn="l">
              <a:defRPr sz="1875" b="1">
                <a:solidFill>
                  <a:srgbClr val="0B0F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F0E"/>
                </a:solidFill>
                <a:latin typeface="Aptos"/>
                <a:ea typeface="Aptos"/>
                <a:cs typeface="Aptos"/>
              </a:rPr>
              <a:t>Критерии со статусом UNVERIFIED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1AA56-8228-4440-B0B8-CA0CD973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69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06964"/>
                </a:solidFill>
                <a:latin typeface="Aptos"/>
                <a:ea typeface="Aptos"/>
                <a:cs typeface="Aptos"/>
              </a:rPr>
              <a:t>Метрики пилота задаются до запуска на основе текущего процесса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1229860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F44E3-43D2-437B-9627-4B1D82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8356F-CDB7-465C-8FBE-C4BF8F01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AB3A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1BCC2-38F7-4D14-8D51-CA49C069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6572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Нужен один</a:t>
            </a:r>
          </a:p>
          <a:p xmlns:a="http://schemas.openxmlformats.org/drawingml/2006/main">
            <a:pPr algn="l">
              <a:defRPr sz="4650" b="1">
                <a:solidFill>
                  <a:srgbClr val="FBFAF6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BFAF6"/>
                </a:solidFill>
                <a:latin typeface="Aptos"/>
                <a:ea typeface="Aptos"/>
                <a:cs typeface="Aptos"/>
              </a:rPr>
              <a:t>пилотный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FAEBB-B572-4828-8652-6A9BCF07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628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3A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3AF"/>
                </a:solidFill>
                <a:latin typeface="Aptos"/>
                <a:ea typeface="Aptos"/>
                <a:cs typeface="Aptos"/>
              </a:rPr>
              <a:t>Команда выбирает приложение и фиксирует scope. Руководитель принимает итоговый отчёт по evidence в репозитории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EE645-E310-4681-887E-1ECA2D2D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181100"/>
            <a:ext cx="3771900" cy="453390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51C1A"/>
          </a:solidFill>
          <a:ln xmlns:a="http://schemas.openxmlformats.org/drawingml/2006/main" w="19050">
            <a:solidFill>
              <a:srgbClr val="2631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36820-6319-43C9-B140-8D068BCA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РЕЗУЛЬТАТ ПИЛОТА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68A00-0CB0-4F83-8617-473BB5D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CEEE6-A681-4931-908A-9D14415A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1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87101-2BFB-4798-BAC6-1EDC6A6C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95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35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B35C"/>
                </a:solidFill>
                <a:latin typeface="Aptos"/>
                <a:ea typeface="Aptos"/>
                <a:cs typeface="Aptos"/>
              </a:rPr>
              <a:t>NEEDS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C307B-5226-4A9D-934F-78254C28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1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02941-CA9F-4E01-8D04-0137887C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F5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6F55"/>
                </a:solidFill>
                <a:latin typeface="Aptos"/>
                <a:ea typeface="Aptos"/>
                <a:cs typeface="Aptos"/>
              </a:rPr>
              <a:t>UNVERIFIED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7D3FD-7DC7-4D8C-808E-B14013FF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D4B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2D4B4"/>
                </a:solidFill>
                <a:latin typeface="Aptos"/>
                <a:ea typeface="Aptos"/>
                <a:cs typeface="Aptos"/>
              </a:rPr>
              <a:t>Каждый статус связан с конкретным доказательством</a:t>
            </a:r>
          </a:p>
        </p:txBody>
      </p:sp>
    </p:spTree>
    <p:extLst>
      <p:ext uri="{BB962C8B-B14F-4D97-AF65-F5344CB8AC3E}">
        <p14:creationId xmlns:p14="http://schemas.microsoft.com/office/powerpoint/2010/main" val="140346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2026-09-28T07:44:21.5960000Z</dcterms:created>
  <dcterms:modified xsi:type="dcterms:W3CDTF">2026-09-28T07:44:21.5960000Z</dcterms:modified>
</coreProperties>
</file>