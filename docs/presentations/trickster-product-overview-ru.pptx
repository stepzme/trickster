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259e78ee3a470b" /><Relationship Type="http://schemas.openxmlformats.org/officeDocument/2006/relationships/extended-properties" Target="/docProps/app.xml" Id="R3802b3277c98483e" /><Relationship Type="http://schemas.openxmlformats.org/officeDocument/2006/relationships/officeDocument" Target="/ppt/presentation.xml" Id="R5e98c1ba243f4d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39a7d7611e4208"/>
  </p:sldMasterIdLst>
  <p:notesMasterIdLst>
    <p:notesMasterId xmlns:r="http://schemas.openxmlformats.org/officeDocument/2006/relationships" r:id="R0fe74421ca2b4f10"/>
  </p:notesMasterIdLst>
  <p:sldIdLst>
    <p:sldId xmlns:r="http://schemas.openxmlformats.org/officeDocument/2006/relationships" id="256" r:id="Rda3cd1f214ce4381"/>
    <p:sldId xmlns:r="http://schemas.openxmlformats.org/officeDocument/2006/relationships" id="257" r:id="R490b3b101cca4bd7"/>
    <p:sldId xmlns:r="http://schemas.openxmlformats.org/officeDocument/2006/relationships" id="258" r:id="R84ed5a105ad24b55"/>
    <p:sldId xmlns:r="http://schemas.openxmlformats.org/officeDocument/2006/relationships" id="259" r:id="Rc60016f9b1ef40df"/>
    <p:sldId xmlns:r="http://schemas.openxmlformats.org/officeDocument/2006/relationships" id="260" r:id="R3c616d6616db47d4"/>
    <p:sldId xmlns:r="http://schemas.openxmlformats.org/officeDocument/2006/relationships" id="261" r:id="R8d4f3ce763bf476b"/>
    <p:sldId xmlns:r="http://schemas.openxmlformats.org/officeDocument/2006/relationships" id="262" r:id="Rb7faa386b0044d57"/>
    <p:sldId xmlns:r="http://schemas.openxmlformats.org/officeDocument/2006/relationships" id="263" r:id="R526db9afa3ea4dbc"/>
    <p:sldId xmlns:r="http://schemas.openxmlformats.org/officeDocument/2006/relationships" id="264" r:id="Ra320dcd9a67d4dfc"/>
    <p:sldId xmlns:r="http://schemas.openxmlformats.org/officeDocument/2006/relationships" id="265" r:id="R3a3ba1e15e7743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ea6dc1dc2b4a95" /><Relationship Type="http://schemas.openxmlformats.org/officeDocument/2006/relationships/slideMaster" Target="/ppt/slideMasters/slideMaster1.xml" Id="Rb439a7d7611e4208" /><Relationship Type="http://schemas.openxmlformats.org/officeDocument/2006/relationships/notesMaster" Target="/ppt/notesMasters/notesMaster1.xml" Id="R0fe74421ca2b4f10" /><Relationship Type="http://schemas.openxmlformats.org/officeDocument/2006/relationships/presProps" Target="/ppt/presProps.xml" Id="R87e3c9e6dac545a1" /><Relationship Type="http://schemas.openxmlformats.org/officeDocument/2006/relationships/tableStyles" Target="/ppt/tableStyles.xml" Id="Rdc7263978d294fb6" /><Relationship Type="http://schemas.openxmlformats.org/officeDocument/2006/relationships/slide" Target="/ppt/slides/slide1.xml" Id="Rda3cd1f214ce4381" /><Relationship Type="http://schemas.openxmlformats.org/officeDocument/2006/relationships/slide" Target="/ppt/slides/slide2.xml" Id="R490b3b101cca4bd7" /><Relationship Type="http://schemas.openxmlformats.org/officeDocument/2006/relationships/slide" Target="/ppt/slides/slide3.xml" Id="R84ed5a105ad24b55" /><Relationship Type="http://schemas.openxmlformats.org/officeDocument/2006/relationships/slide" Target="/ppt/slides/slide4.xml" Id="Rc60016f9b1ef40df" /><Relationship Type="http://schemas.openxmlformats.org/officeDocument/2006/relationships/slide" Target="/ppt/slides/slide5.xml" Id="R3c616d6616db47d4" /><Relationship Type="http://schemas.openxmlformats.org/officeDocument/2006/relationships/slide" Target="/ppt/slides/slide6.xml" Id="R8d4f3ce763bf476b" /><Relationship Type="http://schemas.openxmlformats.org/officeDocument/2006/relationships/slide" Target="/ppt/slides/slide7.xml" Id="Rb7faa386b0044d57" /><Relationship Type="http://schemas.openxmlformats.org/officeDocument/2006/relationships/slide" Target="/ppt/slides/slide8.xml" Id="R526db9afa3ea4dbc" /><Relationship Type="http://schemas.openxmlformats.org/officeDocument/2006/relationships/slide" Target="/ppt/slides/slide9.xml" Id="Ra320dcd9a67d4dfc" /><Relationship Type="http://schemas.openxmlformats.org/officeDocument/2006/relationships/slide" Target="/ppt/slides/slide10.xml" Id="R3a3ba1e15e7743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b9a77101764f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3533176ac448a5" /><Relationship Type="http://schemas.openxmlformats.org/officeDocument/2006/relationships/notesMaster" Target="/ppt/notesMasters/notesMaster1.xml" Id="R5f79b4f8c78e47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97c15f929a4fab" /><Relationship Type="http://schemas.openxmlformats.org/officeDocument/2006/relationships/notesMaster" Target="/ppt/notesMasters/notesMaster1.xml" Id="R28dd015218674d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092f6366964b6f" /><Relationship Type="http://schemas.openxmlformats.org/officeDocument/2006/relationships/notesMaster" Target="/ppt/notesMasters/notesMaster1.xml" Id="R67ee8d10d2f84f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058e34f54349c6" /><Relationship Type="http://schemas.openxmlformats.org/officeDocument/2006/relationships/notesMaster" Target="/ppt/notesMasters/notesMaster1.xml" Id="Ra9a050f5764f44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2356d889cc47bc" /><Relationship Type="http://schemas.openxmlformats.org/officeDocument/2006/relationships/notesMaster" Target="/ppt/notesMasters/notesMaster1.xml" Id="R653cb26030d147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4bd2ac3f274adf" /><Relationship Type="http://schemas.openxmlformats.org/officeDocument/2006/relationships/notesMaster" Target="/ppt/notesMasters/notesMaster1.xml" Id="R961a0eb4626548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0721b86ebb4a41" /><Relationship Type="http://schemas.openxmlformats.org/officeDocument/2006/relationships/notesMaster" Target="/ppt/notesMasters/notesMaster1.xml" Id="Rdb465b43a3ac49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393b990f12416e" /><Relationship Type="http://schemas.openxmlformats.org/officeDocument/2006/relationships/notesMaster" Target="/ppt/notesMasters/notesMaster1.xml" Id="Ra39345cfc01245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6115ec67154388" /><Relationship Type="http://schemas.openxmlformats.org/officeDocument/2006/relationships/notesMaster" Target="/ppt/notesMasters/notesMaster1.xml" Id="R449ed1fd045f48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db89724692494f" /><Relationship Type="http://schemas.openxmlformats.org/officeDocument/2006/relationships/notesMaster" Target="/ppt/notesMasters/notesMaster1.xml" Id="Ra04330d9885040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package.json. Презентация описывает текущий комплект Trickster в этом репозитории.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 продуктового решения: workflow/scope.md, workflow/style-reference.md, workflow/acceptance.md. Формулировки описывают риски, которые процесс Trickster специально ограничивает.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installer/init.mjs, test/init.test.mjs. Установка является локальной для проекта, глобальная установка отклоняется.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workflow/master-prompt.md, workflow/product-contract.md, workflow/implementation.md, workflow/acceptance.md, workflow/aso-screenshots.md.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workflow/orchestration.md, roles/*.md, workflow/acceptance.md. При отсутствии делегирования мастер выполняет те же контракты последовательно и фиксирует ограничение.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workflow/acceptance.md, workflow/delivery.md. Store package не включает подписание, публикацию и физические устройства без отдельного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для колонки Trickster: workflow/master-prompt.md, workflow/orchestration.md, workflow/style-reference.md, workflow/acceptance.md, workflow/delivery.md. Колонка ad hoc описывает типовой неформализованный режим для сравнения, а не результат измерения конкретной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package.json, styles/catalog.json, README.ru.md. Свежая локальная проверка 28.09.2026: npm test прошёл 13/13, npm pack --dry-run с временным кэшем показал 40 файлов. Эти проверки подтверждают комплект installer, но не заменяют пилот на реальном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рекомендация для внедрения, а не исторический результат Trickster. Метрики не содержат выдуманных target values. Базовые значения и целевой порог должен определить руководитель команды до запуска.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статусов: workflow/acceptance.md, workflow/delivery.md. Рекомендуемое управленческое решение: пилот на одном реальном приложении с заранее зафиксированными критериями.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ecbeef1a640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891b0695544270" /><Relationship Type="http://schemas.openxmlformats.org/officeDocument/2006/relationships/slideLayout" Target="/ppt/slideLayouts/slideLayout1.xml" Id="R6260217bcf2545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60217bcf2545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a800e54a24811" /><Relationship Type="http://schemas.openxmlformats.org/officeDocument/2006/relationships/image" Target="/ppt/media/image.png" Id="R0c3fcd7b60b3423a" /><Relationship Type="http://schemas.openxmlformats.org/officeDocument/2006/relationships/image" Target="/ppt/media/image.svg" Id="R120cf7a0835043ba" /><Relationship Type="http://schemas.openxmlformats.org/officeDocument/2006/relationships/notesSlide" Target="/ppt/notesSlides/notesSlide1.xml" Id="Rfc1f9c216b6044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fae206df148b6" /><Relationship Type="http://schemas.openxmlformats.org/officeDocument/2006/relationships/notesSlide" Target="/ppt/notesSlides/notesSlide2.xml" Id="Re84cfe4ef07042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f3a0b1df64953" /><Relationship Type="http://schemas.openxmlformats.org/officeDocument/2006/relationships/notesSlide" Target="/ppt/notesSlides/notesSlide3.xml" Id="Rc8ef37af49f545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698c8086b4340" /><Relationship Type="http://schemas.openxmlformats.org/officeDocument/2006/relationships/notesSlide" Target="/ppt/notesSlides/notesSlide4.xml" Id="Rb05993dfbe0f47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56294aa77419c" /><Relationship Type="http://schemas.openxmlformats.org/officeDocument/2006/relationships/notesSlide" Target="/ppt/notesSlides/notesSlide5.xml" Id="Re0778bfd225a46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1c9529ca54b0a" /><Relationship Type="http://schemas.openxmlformats.org/officeDocument/2006/relationships/notesSlide" Target="/ppt/notesSlides/notesSlide6.xml" Id="R2c4475bf082e4d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b235867534aa0" /><Relationship Type="http://schemas.openxmlformats.org/officeDocument/2006/relationships/notesSlide" Target="/ppt/notesSlides/notesSlide7.xml" Id="R97a6b3292d274e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bfa4e5ee34ccf" /><Relationship Type="http://schemas.openxmlformats.org/officeDocument/2006/relationships/notesSlide" Target="/ppt/notesSlides/notesSlide8.xml" Id="R80e97a64d17e48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3a4fd0adc49a2" /><Relationship Type="http://schemas.openxmlformats.org/officeDocument/2006/relationships/notesSlide" Target="/ppt/notesSlides/notesSlide9.xml" Id="R2abfb93058df4e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e2c0c62c94459" /><Relationship Type="http://schemas.openxmlformats.org/officeDocument/2006/relationships/notesSlide" Target="/ppt/notesSlides/notesSlide10.xml" Id="Rb2bfa4925c3a4c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0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fcd7b60b3423a">
            <a:extLst>
              <a:ext uri="{96DAC541-7B7A-43D3-8B79-37D633B846F1}">
                <asvg:svgBlip xmlns:asvg="http://schemas.microsoft.com/office/drawing/2016/SVG/main" r:embed="R120cf7a0835043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514350"/>
            <a:ext cx="4333875" cy="1162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70020-2F73-4D71-A87E-89D1617B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952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Управляемая фабрика</a:t>
            </a:r>
          </a:p>
          <a:p xmlns:a="http://schemas.openxmlformats.org/drawingml/2006/main">
            <a:pPr algn="l">
              <a:defRPr sz="465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нативных iOS-приложений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3390E-7BC9-4DD4-B4E0-91AC112B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B5A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B5AC"/>
                </a:solidFill>
                <a:latin typeface="Arial"/>
                <a:ea typeface="Arial"/>
                <a:cs typeface="Arial"/>
              </a:rPr>
              <a:t>Продуктовый обзор для руководителей разработки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C835E-5ADB-4D85-B388-5334E044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A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88AE7-533E-4944-90A6-4A7410D1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Scope, дизайн, реализация и независимая приёмка внутри одного репозитория</a:t>
            </a:r>
          </a:p>
        </p:txBody>
      </p:sp>
    </p:spTree>
    <p:extLst>
      <p:ext uri="{BB962C8B-B14F-4D97-AF65-F5344CB8AC3E}">
        <p14:creationId xmlns:p14="http://schemas.microsoft.com/office/powerpoint/2010/main" val="379506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FBA36-0FEC-4D90-A5FB-DA10972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Четыре точки потери управляемости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E0C47-0FE5-4BCE-AEDE-EE48445B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0F1A9-E52D-438E-874D-B3742586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AI ускоряет отдельные задачи. Руководителю всё равно нужно удерживать границы продукта, качество решения и доказательства готовности.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8E385-E123-466D-A6FD-2FB313F7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76200" cy="657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9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9BC1E-381E-4493-84D8-8E222B6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92C01-17A3-4A95-824B-2670D34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383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F885C-CA05-4B5F-9FF6-CF15DE62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57425"/>
            <a:ext cx="708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Работа начинается до фиксации границ, новые функции возникают внутри реализации.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7FC75-86FB-4F3F-AD2B-382BD0C5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53C58-EF7D-422E-8C02-826DFE41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76200" cy="657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D8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594FC-311B-4A3F-A44B-26888185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23D76-C9F6-4E91-BB73-6E007209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38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Дизайн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4FCA5-5471-4FAF-997D-1F33E52B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708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Референсы смешиваются, визуальное решение дрейфует от экрана к экрану.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A93CB-B30B-4B7C-B51A-31251DEE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862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938E9-2DF4-4F4C-97DC-E174BD54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76200" cy="657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CF472-F6C7-41F5-A0B2-A58EE346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07B9E-2845-4048-BF7C-35388AF2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386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Приёмка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82ABC-D525-41B4-BBDB-C1727F3D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57675"/>
            <a:ext cx="708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Исполнитель сообщает о готовности без независимого воспроизведения сценариев.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F0CD0-0FB2-4058-9FC9-51A13407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A647D-553C-473C-B584-35FC41FA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76200" cy="657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49410-A005-4136-A246-A52AB045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673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949D1-7433-4E11-B67C-77DE591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38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Доказательства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EA1BC-2C89-4416-9848-6C22F618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57800"/>
            <a:ext cx="708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Зелёная сборка подменяет проверку поведения, состояний и визуального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322818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A8E91-725A-4E11-864A-70CC4F15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Trickster внутри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E3735-CDAC-4F70-9F61-76F3382C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272D8-4868-42E7-AE6D-0487E795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6286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Trickster устанавливает управляемый процесс в репозиторий и ведёт одну iOS-задачу от scope до принятой сборки.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72A3A-B61A-45A8-BEE4-C19DA763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953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Project-local подход сохраняет решения, дизайн-контекст и evidence рядом с кодом. Повторный запуск обновляет управляемые файлы и сохраняет выбранный стиль и артефакты.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CF5B1-358E-4144-81BC-AC54651E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14450"/>
            <a:ext cx="4095750" cy="44386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77D20-D6DE-4550-8B7A-140FA80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trickster/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89223-2F89-475E-AC68-1069506B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AGENTS.md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A3C59-4405-4D8F-AE3A-701D99F8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39A"/>
                </a:solidFill>
                <a:latin typeface="Arial"/>
                <a:ea typeface="Arial"/>
                <a:cs typeface="Arial"/>
              </a:rPr>
              <a:t>правила проекта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26E95-05A1-4C77-863E-693DE2B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479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roles/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82BD1-DE7F-4BB9-BAEE-1C27DBBC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4797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39A"/>
                </a:solidFill>
                <a:latin typeface="Arial"/>
                <a:ea typeface="Arial"/>
                <a:cs typeface="Arial"/>
              </a:rPr>
              <a:t>контракты ролей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35E09-D8A6-4576-A0F2-1DA0541F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57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workflow/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97798-74A8-409E-BC45-829BFE89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5757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39A"/>
                </a:solidFill>
                <a:latin typeface="Arial"/>
                <a:ea typeface="Arial"/>
                <a:cs typeface="Arial"/>
              </a:rPr>
              <a:t>этапы и ворота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64F93-6C5F-4BE7-93D6-1549AB60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671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design/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AA36B-EB60-4AED-BD46-FCDCD2F2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6717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39A"/>
                </a:solidFill>
                <a:latin typeface="Arial"/>
                <a:ea typeface="Arial"/>
                <a:cs typeface="Arial"/>
              </a:rPr>
              <a:t>один выбранный стиль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EF008-DDFF-4D10-A866-5B03F0F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76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artifacts/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1F712-A4AE-42B9-8D33-904ED231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676775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39A"/>
                </a:solidFill>
                <a:latin typeface="Arial"/>
                <a:ea typeface="Arial"/>
                <a:cs typeface="Arial"/>
              </a:rPr>
              <a:t>контракт и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3307B-EFC9-4E79-BF35-68A6B4E3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9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D8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FD8C2"/>
                </a:solidFill>
                <a:latin typeface="Arial"/>
                <a:ea typeface="Arial"/>
                <a:cs typeface="Arial"/>
              </a:rPr>
              <a:t>npx @sgx22/trickster init</a:t>
            </a:r>
          </a:p>
        </p:txBody>
      </p:sp>
    </p:spTree>
    <p:extLst>
      <p:ext uri="{BB962C8B-B14F-4D97-AF65-F5344CB8AC3E}">
        <p14:creationId xmlns:p14="http://schemas.microsoft.com/office/powerpoint/2010/main" val="1821851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3AAEF-B5BB-46F4-8E60-D21A5C46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Управляемый путь от идеи до принятой сборки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4816F-6C1B-46E4-B734-C6AC3B93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BB586-2F82-4481-81B9-571C27D6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8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Каждый этап оставляет проверяемый результат и блокирует преждевременный переход дальше.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BFF69-5C6A-41E8-BC08-5752A1BB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956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C5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B88BC-2C2D-4FF0-8759-C33E566A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02983-5236-4CB0-8DA7-FE59F15C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Scope и контракт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F2E72-0719-402C-BFF2-E2066B4B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00F"/>
          </a:solidFill>
          <a:ln xmlns:a="http://schemas.openxmlformats.org/drawingml/2006/main" w="0">
            <a:solidFill>
              <a:srgbClr val="11100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5099B-900C-4BC5-911B-115103C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Границы, экраны, состояния, сценарии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BDEF8-4E8B-436E-8C07-A0F07C2B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324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9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ECD51-2FAA-42FF-8061-1499CCD8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52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F9BE9-29AE-498C-97BC-CF484FDF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Один стиль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BF77E-3E11-466D-A0D1-1DDCE2A2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00F"/>
          </a:solidFill>
          <a:ln xmlns:a="http://schemas.openxmlformats.org/drawingml/2006/main" w="0">
            <a:solidFill>
              <a:srgbClr val="11100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78B67-1896-4EDD-A7E5-633E0081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052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До трёх кандидатов, затем одно подтверждение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9BF41-29F1-47AC-AAFC-9E9ACA86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76800"/>
            <a:ext cx="2324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D8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11244-FA38-4EAE-A8D4-45A64AF4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4066C-FC77-4A03-B3AD-D4059E51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Нативная реализация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85C6C-4692-4532-8FED-48357AB1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00F"/>
          </a:solidFill>
          <a:ln xmlns:a="http://schemas.openxmlformats.org/drawingml/2006/main" w="0">
            <a:solidFill>
              <a:srgbClr val="11100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29209-56E6-4846-82AF-E5CFB55A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Вертикальный сценарий, затем полный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BCE38-1639-4154-B912-1129BA2D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2324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15F25-55D5-49E1-8B1C-41CF313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52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5A4A0-DC5C-45B6-9988-F9FBDF8D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1460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Приёмка и передача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7266D-C484-40A2-B567-E523678A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14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38100">
            <a:solidFill>
              <a:srgbClr val="149E8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4F1B7-1C51-459C-ADE7-2FA11C59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052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Simulator, interaction, визуальная проверка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7C31E-420F-456E-8AF7-E4CA3C6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76800"/>
            <a:ext cx="2324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01281-91B5-49EB-A416-039290FB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4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Скриншоты для стора создаются только после APP ACCEPTED и только из реальных экранов финальной сборки.</a:t>
            </a:r>
          </a:p>
        </p:txBody>
      </p:sp>
    </p:spTree>
    <p:extLst>
      <p:ext uri="{BB962C8B-B14F-4D97-AF65-F5344CB8AC3E}">
        <p14:creationId xmlns:p14="http://schemas.microsoft.com/office/powerpoint/2010/main" val="2712081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F70ED-7D80-4722-81CB-42EF878A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Роли и контроль ответственности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5C9C4-5D3B-43F4-ADC1-8C009C68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5AE0F-C382-49A2-B795-799D364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Один мастер отвечает за результат. Узкие роли создают артефакты и не выходят за границы своего контракта.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F4DFE-AB64-4769-92E0-533DF3CA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9775"/>
            <a:ext cx="5067300" cy="11049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7A056-4358-4390-AAD5-61BCBC40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383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MASTER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E525D-D33C-4777-A30A-FC7E36B1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336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Оркестрирует run и принимает финальное 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1869C-CDE4-47D3-BE2C-B35AFCA7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1467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E5C88-1BBD-43F4-A9D8-2F78D652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48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5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1E485-C867-4F02-B979-461F5F0A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9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E0016-B22A-4CE6-8F9A-F021B139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9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B8104-2042-47E0-AEFC-FD09EB61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814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PRODUCT</a:t>
            </a:r>
          </a:p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41441-6270-4FA1-B1CD-63A02551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Фиксирует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C6AFA-D421-42FB-B560-7C1B23F4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D8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B8FE1-2FAA-4A73-8F04-3DE4610E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D8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6192E-47FB-433C-ACE9-C4DF3EE8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DESIGN</a:t>
            </a:r>
          </a:p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1C0FF-2441-4D55-A8DA-C5FD7D45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244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Создаёт контракт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93100-1518-41BA-AD35-3452EC2C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DF23B-A410-4E41-8ADF-F4638F40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0525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C9D74-7755-4B5A-B795-C9DD9BBF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814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IMPLEMENTATION</a:t>
            </a:r>
          </a:p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0FC39E-012C-4C24-8D3F-EAB4816E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244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Пишет app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51DA9-3D9B-42F7-9E92-00D12C11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7FD73-1130-4DA5-9BE5-4E121BDE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0525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B2E3B-71F5-447A-9D79-A1E2E2EA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814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VISUAL</a:t>
            </a:r>
          </a:p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199B4-2735-4C46-8D79-AC30D253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244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Готовит icon и store screens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11B2B-149D-41D9-BC29-664C5180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026F69-570C-438B-8032-C34C58B1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05250"/>
            <a:ext cx="2038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68EE24-EEFA-4E2C-937B-82AEA240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814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ACCEPTANCE</a:t>
            </a:r>
          </a:p>
          <a:p xmlns:a="http://schemas.openxmlformats.org/drawingml/2006/main">
            <a:pPr algn="l">
              <a:defRPr sz="1125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REVIEWER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ECFBD2-EDCD-4417-9004-630A6BD3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244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Проверяет без фиксов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69A1D-0DBC-4C78-98E7-429C1FD2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Ключевой принцип: исполнитель не может принять собственную работу.</a:t>
            </a:r>
          </a:p>
        </p:txBody>
      </p:sp>
    </p:spTree>
    <p:extLst>
      <p:ext uri="{BB962C8B-B14F-4D97-AF65-F5344CB8AC3E}">
        <p14:creationId xmlns:p14="http://schemas.microsoft.com/office/powerpoint/2010/main" val="1793658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54688-8357-4A11-B76C-9764B6F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На выходе остаются продукт и доказательства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B3098-B58B-4750-BADC-12E77776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07065-F8A3-4BB6-8D73-60B2B37E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DC79F-A731-4A5C-84B6-75AD7886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1922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Нативное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3FE64-E891-4406-8C55-AAD7AA49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1922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Xcode-проект, согласованный scope и один реализованный продуктовый сценарий за другим.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117ED-1B1A-481B-BD41-E28327D0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CBC5E-0940-4428-819C-181DE807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C3F6D-0A4D-413E-A854-61404B78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812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8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Подтверждённый дизайн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14C5B-24D2-4043-9E77-446F7EE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812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Один локальный style package. Нативное поведение сохраняется, внешний вид следует выбранному языку.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D65D9-58E5-474C-991F-1380691F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75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18708-C4D6-408B-B015-7AE6CAF6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C4A9D-333D-433A-8B82-B294FE21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4332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3218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Доказательства по финальной версии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E9A62-7549-4ADB-B654-EEE7BD95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4332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Сборка, запуск, действия в Simulator, визуальные состояния и реестр источников.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91B32-44B8-45C4-8C30-B432BD07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976DE-2FA9-44AC-B09C-C10F7BD2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3CE02-9276-4C61-955A-6F3A463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Комплект для стора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75753-652C-4545-9279-E4606352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0537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Одна оригинальная app icon и один комплект скриншотов из принятой сборки.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B64C4-5FF1-4124-AB1D-34048686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81675"/>
            <a:ext cx="994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5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06E8C-0916-4144-90DD-E8D4DB8F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706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7A562-BE9F-45F4-9357-A391FAED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62675"/>
            <a:ext cx="1024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Если инструмент или доказательство недоступны, статус остаётся UNVERIFIED.</a:t>
            </a:r>
          </a:p>
        </p:txBody>
      </p:sp>
    </p:spTree>
    <p:extLst>
      <p:ext uri="{BB962C8B-B14F-4D97-AF65-F5344CB8AC3E}">
        <p14:creationId xmlns:p14="http://schemas.microsoft.com/office/powerpoint/2010/main" val="7004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4D883-BC5B-4B7E-9E18-E0703D5D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Изменение операционной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34C1C-BB4D-4692-82B9-9994CAD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28650" y="1352550"/>
          <a:ext xmlns:a="http://schemas.openxmlformats.org/drawingml/2006/main" cx="109347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3905250"/>
                <a:gridCol w="4667250"/>
              </a:tblGrid>
              <a:tr h="590550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AF8F2"/>
                          </a:solidFill>
                          <a:latin typeface="Arial"/>
                          <a:ea typeface="Arial"/>
                          <a:cs typeface="Arial"/>
                        </a:rPr>
                        <a:t>Контрольная точка</a:t>
                      </a:r>
                    </a:p>
                  </a:txBody>
                  <a:tcPr marL="91440" marR="91440" marT="45720" marB="45720" anchor="ctr">
                    <a:solidFill>
                      <a:srgbClr val="11100F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AF8F2"/>
                          </a:solidFill>
                          <a:latin typeface="Arial"/>
                          <a:ea typeface="Arial"/>
                          <a:cs typeface="Arial"/>
                        </a:rPr>
                        <a:t>Ad hoc работа с агентом</a:t>
                      </a:r>
                    </a:p>
                  </a:txBody>
                  <a:tcPr marL="91440" marR="91440" marT="45720" marB="45720" anchor="ctr">
                    <a:solidFill>
                      <a:srgbClr val="11100F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AF8F2"/>
                          </a:solidFill>
                          <a:latin typeface="Arial"/>
                          <a:ea typeface="Arial"/>
                          <a:cs typeface="Arial"/>
                        </a:rPr>
                        <a:t>Trickster</a:t>
                      </a:r>
                    </a:p>
                  </a:txBody>
                  <a:tcPr marL="91440" marR="91440" marT="45720" marB="45720" anchor="ctr">
                    <a:solidFill>
                      <a:srgbClr val="11100F"/>
                    </a:solidFill>
                  </a:tcPr>
                </a:tc>
              </a:tr>
              <a:tr h="790575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Старт UI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После общего запроса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00F"/>
                          </a:solidFill>
                          <a:latin typeface="Arial"/>
                          <a:ea typeface="Arial"/>
                          <a:cs typeface="Arial"/>
                        </a:rPr>
                        <a:t>После scope, контракта и выбора одного стиля</a:t>
                      </a:r>
                    </a:p>
                  </a:txBody>
                  <a:tcPr marL="91440" marR="91440" marT="45720" marB="45720" anchor="ctr">
                    <a:solidFill>
                      <a:srgbClr val="EAF6F2"/>
                    </a:solidFill>
                  </a:tcPr>
                </a:tc>
              </a:tr>
              <a:tr h="790575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Дизайн-контекст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Может меняться по ходу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00F"/>
                          </a:solidFill>
                          <a:latin typeface="Arial"/>
                          <a:ea typeface="Arial"/>
                          <a:cs typeface="Arial"/>
                        </a:rPr>
                        <a:t>Один локальный пакет для всего run</a:t>
                      </a:r>
                    </a:p>
                  </a:txBody>
                  <a:tcPr marL="91440" marR="91440" marT="45720" marB="45720" anchor="ctr">
                    <a:solidFill>
                      <a:srgbClr val="EAF6F2"/>
                    </a:solidFill>
                  </a:tcPr>
                </a:tc>
              </a:tr>
              <a:tr h="790575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Один исполнитель сообщает о результате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00F"/>
                          </a:solidFill>
                          <a:latin typeface="Arial"/>
                          <a:ea typeface="Arial"/>
                          <a:cs typeface="Arial"/>
                        </a:rPr>
                        <a:t>Роли разделены, мастер проверяет handoff</a:t>
                      </a:r>
                    </a:p>
                  </a:txBody>
                  <a:tcPr marL="91440" marR="91440" marT="45720" marB="45720" anchor="ctr">
                    <a:solidFill>
                      <a:srgbClr val="EAF6F2"/>
                    </a:solidFill>
                  </a:tcPr>
                </a:tc>
              </a:tr>
              <a:tr h="790575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Критерий готовности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Код написан или проект собирается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00F"/>
                          </a:solidFill>
                          <a:latin typeface="Arial"/>
                          <a:ea typeface="Arial"/>
                          <a:cs typeface="Arial"/>
                        </a:rPr>
                        <a:t>Точный build воспроизведён в Simulator</a:t>
                      </a:r>
                    </a:p>
                  </a:txBody>
                  <a:tcPr marL="91440" marR="91440" marT="45720" marB="45720" anchor="ctr">
                    <a:solidFill>
                      <a:srgbClr val="EAF6F2"/>
                    </a:solidFill>
                  </a:tcPr>
                </a:tc>
              </a:tr>
              <a:tr h="790575"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След решения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6D6961"/>
                          </a:solidFill>
                          <a:latin typeface="Arial"/>
                          <a:ea typeface="Arial"/>
                          <a:cs typeface="Arial"/>
                        </a:rPr>
                        <a:t>История чата</a:t>
                      </a:r>
                    </a:p>
                  </a:txBody>
                  <a:tcPr marL="91440" marR="91440" marT="45720" marB="45720" anchor="ctr">
                    <a:solidFill>
                      <a:srgbClr val="FAF8F2"/>
                    </a:solidFill>
                  </a:tcPr>
                </a:tc>
                <a:tc>
                  <a:txBody>
                    <a:bodyPr lIns="114300" tIns="95250" rIns="114300" bIns="95250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1100F"/>
                          </a:solidFill>
                          <a:latin typeface="Arial"/>
                          <a:ea typeface="Arial"/>
                          <a:cs typeface="Arial"/>
                        </a:rPr>
                        <a:t>Контракт, evidence и review внутри репозитория</a:t>
                      </a:r>
                    </a:p>
                  </a:txBody>
                  <a:tcPr marL="91440" marR="91440" marT="45720" marB="45720" anchor="ctr">
                    <a:solidFill>
                      <a:srgbClr val="EAF6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984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639AD-CC56-4B0C-8198-0B940375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Готовность комплекта и границы применения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7C2DE-9D33-4D60-BF37-2C0C8A42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242F3-399C-419A-9C88-E2D1D975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1.0.1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B4D45-E706-403B-9990-ED0F447C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версия в репозитории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FCE99-34DC-46F0-BA03-7B367B37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52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E455B-CD80-4C7A-B6F1-1BC2D91D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050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локальные тесты прошли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3465F-6E1A-4402-8BB8-D6E3FC42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52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275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E39BC-C9D3-49DC-A1FB-03E80E3C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050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пакетов в каталоге стилей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DA8EF-C693-4634-9583-DBA4756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52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92983-6551-4529-9106-59B7AF12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050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файлов в npm 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5B684-E58E-469F-A0DF-F40446C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5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C80BB-CF36-4AC0-B0ED-7C906350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Среда запуска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943A6-33D7-4A91-816A-E8C25F7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667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macOS, Xcode, подходящий iOS Simulator, Node.js 20+ и agent harness, который читает инструкции проекта.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05EB3-5C59-439B-94F1-F4ADF959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Отдельный контур релиза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7FB03-2239-4547-8A34-A1A551DB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4667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Подписание, release archive, физические устройства, App Store submission и внешняя production-инфраструктура.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77196-EAD5-4968-96C8-CB5EB6E5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5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29A27-BD38-498D-9FA4-1DBB6183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A857C"/>
                </a:solidFill>
                <a:latin typeface="Arial"/>
                <a:ea typeface="Arial"/>
                <a:cs typeface="Arial"/>
              </a:rPr>
              <a:t>Свежая проверка checkout: 28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526961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0D0BD-55BF-49F1-A988-ABF1096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Предлагаемый управленческий 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9D157-4304-4738-80BF-F4A89D9B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8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A857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B2B2D-71DC-4160-BADB-489A2421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Один реальный продуктовый сценарий даёт больше сигнала, чем демонстрационный проект: руководитель увидит стоимость контроля и качество evidence на своей команде.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AB7C4-E898-4455-8AC3-57E4431C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463D8-3895-415F-966D-5B75F079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72CBE-CE69-4A6C-A049-369A607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6227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Выбрать приложение с одним основным сценарием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34F6B-381F-4E7B-B742-E9E270CB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FDC67-08C7-4AF4-9A6F-BD1EE13B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Зафиксировать scope и критерии приёмки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A7DE9-7C0D-40C6-BF75-395F628E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C1402-0755-4866-B041-40414FCE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1482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Провести один полный прогон без обхода ворот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6399E-1827-47A3-8A5A-2B386368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9D173-6A02-4BF8-9C30-E61B7F98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Принять решение по фактическому отчёту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E3CC2-795E-454D-B890-5BDC1DF9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705350" cy="3295650"/>
          </a:xfrm>
          <a:prstGeom xmlns:a="http://schemas.openxmlformats.org/drawingml/2006/main" prst="roundRect">
            <a:avLst>
              <a:gd name="adj" fmla="val 7514"/>
            </a:avLst>
          </a:prstGeom>
          <a:solidFill xmlns:a="http://schemas.openxmlformats.org/drawingml/2006/main">
            <a:srgbClr val="F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4FC68-5168-495B-B2B1-CBFCA575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860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Сигналы для решения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99ECE-7786-40E5-BD62-B9CD1963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19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89B80-0224-40DA-B53E-405F45B5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Время до принятой сборки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9E11D-633B-440A-8B77-FF33893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528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E7CE6-3466-4C8E-9B78-3FF4D0FD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Количество циклов исправлений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121AB-6DDF-4CAB-BC07-2A643302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86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7586E-F9DC-4BAE-81BB-57242BB8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D6961"/>
                </a:solidFill>
                <a:latin typeface="Arial"/>
                <a:ea typeface="Arial"/>
                <a:cs typeface="Arial"/>
              </a:rPr>
              <a:t>Изменения scope после контракта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F8BBD-53F9-4EC7-A2AD-AAC706A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196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2A0A3-3AD4-4953-8985-1730E67C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696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6961"/>
                </a:solidFill>
                <a:latin typeface="Arial"/>
                <a:ea typeface="Arial"/>
                <a:cs typeface="Arial"/>
              </a:rPr>
              <a:t>Число критериев со статусом UNVERIFIED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7308BD-24CD-45CC-83B3-6FE9C06E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Целевые значения задаются до пилота на основе текущего процесса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850460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0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99CF3-C9DB-4AFD-AB43-AF263CBE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Решение для запуска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4449F-2675-465A-8AED-30709A4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8A39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8A39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FFB34-666E-4753-8779-832A4021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7239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Одобрить один</a:t>
            </a:r>
          </a:p>
          <a:p xmlns:a="http://schemas.openxmlformats.org/drawingml/2006/main">
            <a:pPr algn="l">
              <a:defRPr sz="4800" b="1">
                <a:solidFill>
                  <a:srgbClr val="FAF8F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AF8F2"/>
                </a:solidFill>
                <a:latin typeface="Arial"/>
                <a:ea typeface="Arial"/>
                <a:cs typeface="Arial"/>
              </a:rPr>
              <a:t>ограниченный пилот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D62E1-747B-4966-B09B-AFF5435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685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9B5A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B5AC"/>
                </a:solidFill>
                <a:latin typeface="Arial"/>
                <a:ea typeface="Arial"/>
                <a:cs typeface="Arial"/>
              </a:rPr>
              <a:t>Нужны выбранный iOS-проект, ответственный за scope продукта и руководитель, который примет итоговый отчёт.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CAB75-039F-4FC6-AF74-84ADD258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048000" cy="3048000"/>
          </a:xfrm>
          <a:prstGeom xmlns:a="http://schemas.openxmlformats.org/drawingml/2006/main" prst="roundRect">
            <a:avLst>
              <a:gd name="adj" fmla="val 10625"/>
            </a:avLst>
          </a:prstGeom>
          <a:solidFill xmlns:a="http://schemas.openxmlformats.org/drawingml/2006/main">
            <a:srgbClr val="149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29511-4BE6-4A4E-856B-8901A2AD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Результат пилота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90DBF-3651-40F0-9D7B-AA967A68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2381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ACCEPTED</a:t>
            </a:r>
          </a:p>
          <a:p xmlns:a="http://schemas.openxmlformats.org/drawingml/2006/main">
            <a:pPr algn="l">
              <a:defRPr sz="22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NEEDS WORK</a:t>
            </a:r>
          </a:p>
          <a:p xmlns:a="http://schemas.openxmlformats.org/drawingml/2006/main">
            <a:pPr algn="l">
              <a:defRPr sz="2250" b="1">
                <a:solidFill>
                  <a:srgbClr val="11100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00F"/>
                </a:solidFill>
                <a:latin typeface="Arial"/>
                <a:ea typeface="Arial"/>
                <a:cs typeface="Arial"/>
              </a:rPr>
              <a:t>UNVERIFIED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68B2B-EC59-4F7D-A5FC-5D82C2E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9E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9E87"/>
                </a:solidFill>
                <a:latin typeface="Arial"/>
                <a:ea typeface="Arial"/>
                <a:cs typeface="Arial"/>
              </a:rPr>
              <a:t>Каждый статус связан с evidence в репозитории.</a:t>
            </a:r>
          </a:p>
        </p:txBody>
      </p:sp>
    </p:spTree>
    <p:extLst>
      <p:ext uri="{BB962C8B-B14F-4D97-AF65-F5344CB8AC3E}">
        <p14:creationId xmlns:p14="http://schemas.microsoft.com/office/powerpoint/2010/main" val="2065167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2026-09-28T07:28:01.8790000Z</dcterms:created>
  <dcterms:modified xsi:type="dcterms:W3CDTF">2026-09-28T07:28:01.8790000Z</dcterms:modified>
</coreProperties>
</file>